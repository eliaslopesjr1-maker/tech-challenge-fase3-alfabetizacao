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Brasil: % de crianças alfabetizadas x meta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ln w="31750">
              <a:solidFill>
                <a:srgbClr val="E76F51"/>
              </a:solidFill>
            </a:ln>
          </c:spPr>
          <c:marker>
            <c:spPr>
              <a:solidFill>
                <a:srgbClr val="E76F51"/>
              </a:solidFill>
              <a:ln>
                <a:solidFill>
                  <a:srgbClr val="E76F51"/>
                </a:solidFill>
              </a:ln>
            </c:spPr>
          </c:marker>
          <c:dLbls>
            <c:numFmt formatCode="0.0&quot;%&quot;" sourceLinked="0"/>
            <c:txPr>
              <a:bodyPr/>
              <a:lstStyle/>
              <a:p>
                <a:pPr>
                  <a:defRPr sz="1200" b="1">
                    <a:solidFill>
                      <a:srgbClr val="E76F51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  <c:pt idx="5">
                  <c:v>2028</c:v>
                </c:pt>
                <c:pt idx="6">
                  <c:v>2029</c:v>
                </c:pt>
                <c:pt idx="7">
                  <c:v>2030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55.9</c:v>
                </c:pt>
                <c:pt idx="1">
                  <c:v>59.2</c:v>
                </c:pt>
                <c:pt idx="2">
                  <c:v>66.0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 nacional</c:v>
                </c:pt>
              </c:strCache>
            </c:strRef>
          </c:tx>
          <c:spPr>
            <a:ln w="19050">
              <a:solidFill>
                <a:srgbClr val="5B6B72"/>
              </a:solidFill>
            </a:ln>
          </c:spPr>
          <c:marker>
            <c:spPr>
              <a:solidFill>
                <a:srgbClr val="5B6B72"/>
              </a:solidFill>
              <a:ln>
                <a:solidFill>
                  <a:srgbClr val="5B6B72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  <c:pt idx="5">
                  <c:v>2028</c:v>
                </c:pt>
                <c:pt idx="6">
                  <c:v>2029</c:v>
                </c:pt>
                <c:pt idx="7">
                  <c:v>2030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59.9</c:v>
                </c:pt>
                <c:pt idx="2">
                  <c:v>63.8</c:v>
                </c:pt>
                <c:pt idx="3">
                  <c:v>67.5</c:v>
                </c:pt>
                <c:pt idx="4">
                  <c:v>71.0</c:v>
                </c:pt>
                <c:pt idx="5">
                  <c:v>74.2</c:v>
                </c:pt>
                <c:pt idx="6">
                  <c:v>77.2</c:v>
                </c:pt>
                <c:pt idx="7">
                  <c:v>80.0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5.0"/>
          <c:min val="40.0"/>
        </c:scaling>
        <c:delete val="0"/>
        <c:axPos val="l"/>
        <c:majorGridlines>
          <c:spPr>
            <a:ln>
              <a:solidFill>
                <a:srgbClr val="DDE3E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Peso de cada tema na previsão (SHAP agregado, % do total)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264653"/>
              </a:solidFill>
            </c:spPr>
          </c:dPt>
          <c:dPt>
            <c:idx val="1"/>
            <c:spPr>
              <a:solidFill>
                <a:srgbClr val="264653"/>
              </a:solidFill>
            </c:spPr>
          </c:dPt>
          <c:dPt>
            <c:idx val="2"/>
            <c:spPr>
              <a:solidFill>
                <a:srgbClr val="264653"/>
              </a:solidFill>
            </c:spPr>
          </c:dPt>
          <c:dPt>
            <c:idx val="3"/>
            <c:spPr>
              <a:solidFill>
                <a:srgbClr val="264653"/>
              </a:solidFill>
            </c:spPr>
          </c:dPt>
          <c:dPt>
            <c:idx val="4"/>
            <c:spPr>
              <a:solidFill>
                <a:srgbClr val="264653"/>
              </a:solidFill>
            </c:spPr>
          </c:dPt>
          <c:dPt>
            <c:idx val="5"/>
            <c:spPr>
              <a:solidFill>
                <a:srgbClr val="E76F51"/>
              </a:solidFill>
            </c:spPr>
          </c:dPt>
          <c:dPt>
            <c:idx val="6"/>
            <c:spPr>
              <a:solidFill>
                <a:srgbClr val="E76F51"/>
              </a:solidFill>
            </c:spPr>
          </c:dPt>
          <c:dLbls>
            <c:numFmt formatCode="0&quot;%&quot;" sourceLinked="0"/>
            <c:txPr>
              <a:bodyPr/>
              <a:lstStyle/>
              <a:p>
                <a:pPr>
                  <a:defRPr sz="13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Docentes e equipe</c:v>
                </c:pt>
                <c:pt idx="1">
                  <c:v>Infraestrutura escolar</c:v>
                </c:pt>
                <c:pt idx="2">
                  <c:v>Ruralidade e diversidade</c:v>
                </c:pt>
                <c:pt idx="3">
                  <c:v>Porte da rede e do município</c:v>
                </c:pt>
                <c:pt idx="4">
                  <c:v>Nível socioeconômico</c:v>
                </c:pt>
                <c:pt idx="5">
                  <c:v>Estado (UF) e região</c:v>
                </c:pt>
                <c:pt idx="6">
                  <c:v>Trajetória escolar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3.7</c:v>
                </c:pt>
                <c:pt idx="1">
                  <c:v>4.8</c:v>
                </c:pt>
                <c:pt idx="2">
                  <c:v>5.9</c:v>
                </c:pt>
                <c:pt idx="3">
                  <c:v>6.0</c:v>
                </c:pt>
                <c:pt idx="4">
                  <c:v>19.0</c:v>
                </c:pt>
                <c:pt idx="5">
                  <c:v>29.5</c:v>
                </c:pt>
                <c:pt idx="6">
                  <c:v>30.8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Influência média na previsão (|SHAP|, teste 2024)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264653"/>
              </a:solidFill>
            </c:spPr>
          </c:dPt>
          <c:dPt>
            <c:idx val="1"/>
            <c:spPr>
              <a:solidFill>
                <a:srgbClr val="264653"/>
              </a:solidFill>
            </c:spPr>
          </c:dPt>
          <c:dPt>
            <c:idx val="2"/>
            <c:spPr>
              <a:solidFill>
                <a:srgbClr val="264653"/>
              </a:solidFill>
            </c:spPr>
          </c:dPt>
          <c:dPt>
            <c:idx val="3"/>
            <c:spPr>
              <a:solidFill>
                <a:srgbClr val="264653"/>
              </a:solidFill>
            </c:spPr>
          </c:dPt>
          <c:dPt>
            <c:idx val="4"/>
            <c:spPr>
              <a:solidFill>
                <a:srgbClr val="2A9D8F"/>
              </a:solidFill>
            </c:spPr>
          </c:dPt>
          <c:dPt>
            <c:idx val="5"/>
            <c:spPr>
              <a:solidFill>
                <a:srgbClr val="E76F51"/>
              </a:solidFill>
            </c:spPr>
          </c:dPt>
          <c:dPt>
            <c:idx val="6"/>
            <c:spPr>
              <a:solidFill>
                <a:srgbClr val="E76F51"/>
              </a:solidFill>
            </c:spPr>
          </c:dPt>
          <c:dPt>
            <c:idx val="7"/>
            <c:spPr>
              <a:solidFill>
                <a:srgbClr val="E76F51"/>
              </a:solidFill>
            </c:spPr>
          </c:dPt>
          <c:dLbls>
            <c:numFmt formatCode="0.00" sourceLinked="0"/>
            <c:txPr>
              <a:bodyPr/>
              <a:lstStyle/>
              <a:p>
                <a:pPr>
                  <a:defRPr sz="13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Tamanho médio das escolas</c:v>
                </c:pt>
                <c:pt idx="1">
                  <c:v>População rural (2010)</c:v>
                </c:pt>
                <c:pt idx="2">
                  <c:v>% alunos com INSE baixo</c:v>
                </c:pt>
                <c:pt idx="3">
                  <c:v>Região</c:v>
                </c:pt>
                <c:pt idx="4">
                  <c:v>INSE médio da rede</c:v>
                </c:pt>
                <c:pt idx="5">
                  <c:v>Abandono nos anos iniciais</c:v>
                </c:pt>
                <c:pt idx="6">
                  <c:v>Distorção idade-série</c:v>
                </c:pt>
                <c:pt idx="7">
                  <c:v>Estado (UF)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0.022</c:v>
                </c:pt>
                <c:pt idx="1">
                  <c:v>0.032</c:v>
                </c:pt>
                <c:pt idx="2">
                  <c:v>0.033</c:v>
                </c:pt>
                <c:pt idx="3">
                  <c:v>0.044</c:v>
                </c:pt>
                <c:pt idx="4">
                  <c:v>0.071</c:v>
                </c:pt>
                <c:pt idx="5">
                  <c:v>0.112</c:v>
                </c:pt>
                <c:pt idx="6">
                  <c:v>0.127</c:v>
                </c:pt>
                <c:pt idx="7">
                  <c:v>0.348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2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264653"/>
                </a:solidFill>
                <a:latin typeface="Calibri"/>
              </a:rPr>
              <a:t>% de alfabetizados por grupo de contexto (2024)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E76F51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E9C46A"/>
              </a:solidFill>
            </c:spPr>
          </c:dPt>
          <c:dPt>
            <c:idx val="3"/>
            <c:spPr>
              <a:solidFill>
                <a:srgbClr val="2A9D8F"/>
              </a:solidFill>
            </c:spPr>
          </c:dPt>
          <c:dPt>
            <c:idx val="4"/>
            <c:spPr>
              <a:solidFill>
                <a:srgbClr val="264653"/>
              </a:solidFill>
            </c:spPr>
          </c:dPt>
          <c:dLbls>
            <c:numFmt formatCode="0&quot;%&quot;" sourceLinked="0"/>
            <c:txPr>
              <a:bodyPr/>
              <a:lstStyle/>
              <a:p>
                <a:pPr>
                  <a:defRPr sz="1300" b="1">
                    <a:solidFill>
                      <a:srgbClr val="1F2D33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Fluxo escolar crítico</c:v>
                </c:pt>
                <c:pt idx="1">
                  <c:v>Áreas diferenciadas e rurais</c:v>
                </c:pt>
                <c:pt idx="2">
                  <c:v>Urbano de maior porte</c:v>
                </c:pt>
                <c:pt idx="3">
                  <c:v>Vulnerável com fluxo regular</c:v>
                </c:pt>
                <c:pt idx="4">
                  <c:v>Pequenos desenvolvidos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41.9</c:v>
                </c:pt>
                <c:pt idx="1">
                  <c:v>50.0</c:v>
                </c:pt>
                <c:pt idx="2">
                  <c:v>59.3</c:v>
                </c:pt>
                <c:pt idx="3">
                  <c:v>62.9</c:v>
                </c:pt>
                <c:pt idx="4">
                  <c:v>70.5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5B6B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Bom dia a todos. Vou responder cinco perguntas que ajudam a decidir onde agir para chegar a 80% de crianças alfabetizadas até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Brasil avançou de 56% em 2023 para 66% em 2025, mas ainda faltam 14 pontos até 2030. Estas são as cinco perguntas que vamos responder com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média esconde a desigualdade: em 2024, 36% das crianças alfabetizadas na Bahia e 85% no Ceará.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Cruzamos os dados de 3,3 milhões de crianças com cinco bases públicas e construímos dois modelos: o risco de cada criança e a chance de cada rede bater a meta. Tudo foi testado com dados que o modelo nunca viu.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Primeira pergunta: o que mais pesa? A trajetória escolar, com 31%, e a política estadual, com 30%. O nível socioeconômico vem só em terceiro. As duas alavancas mais fortes estão ao alcance da gestão.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exemplo: um município cearense com 76% das crianças na pobreza tem 95% de chance prevista, porque a rede tem abandono zero, quase nenhuma distorção e tempo integral.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pergunta: as variáveis mais influentes são o estado, a distorção idade-série, o abandono e o nível socioeconômico. Duas técnicas diferentes, SHAP e permutação, chegam ao mesmo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Descontado o contexto, o Ceará entrega muito mais do que sua renda prevê, efeito associado a quase 20 anos de colaboração com os municípios. E há limiares: acima de 8% de distorção ou de meio por cento de abandono, a chance cai.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Terceira pergunta: agrupamos os municípios em cinco perfis de contexto. Dois grupos têm a mesma pobreza, mas um alfabetiza 63% e o outro 42%. A diferença de 21 pontos está no fluxo escolar.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em todo perfil há municípios que alfabetizam 30 a 50 pontos acima do esperado, como Tartarugalzinho, no Amapá, e Barreirinhas, no Maranhão. São referências para os pares do mesmo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Quarta pergunta: onde está o risco? Por gravidade, 84% das redes da Bahia estão no grupo de maior risco. Por volume, só São Paulo tem 21 mil crianças não alfabetizadas, seguida de Rio, Manaus e Salvador.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gravidade e volume se encontram, há 37 redes grandes e de alto risco, com 58 mil crianças não alfabetizadas: Salvador, Maceió e a Baixada Fluminense. É por onde começar.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Quinta pergunta: o modelo aprende como as redes se saíram de um ano para o outro e projeta a chance de bater a meta de 2025. Cerca de 1.400 redes têm menos de 40%. A queda do Rio Grande do Sul nas enchentes não é projetada como tendência.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Conferimos com o que aconteceu em 2025: o modelo acertou a direção, mas foi conservador, porque 2025 teve um avanço amplo. A Bahia deu o maior salto do país e merece ser estudada. O modelo serve para priorizar e será recalibrado com os dados de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Nossas recomendações: priorizar recursos com o ranking de risco, atacar o fluxo escolar, expandir o regime de colaboração no modelo do Ceará, conectar municípios às suas referências e usar o alerta de metas antes da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modelos não substituem o olhar das secretarias: eles dizem onde olhar primeiro.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465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88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TECH CHALLENGE ·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7223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Alfabetização no Brasil: cinco perguntas para decidir onde agir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FE3E0"/>
                </a:solidFill>
                <a:latin typeface="Calibri"/>
              </a:rPr>
              <a:t>Predição e inteligência analítica a partir do Indicador Criança Alfabetizada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FE3E0"/>
                </a:solidFill>
                <a:latin typeface="Calibri"/>
              </a:rPr>
              <a:t>Reunião executiva com gestores públicos de educação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463040"/>
            <a:ext cx="3474720" cy="384048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9202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000" b="1" i="0">
                <a:solidFill>
                  <a:srgbClr val="E76F51"/>
                </a:solidFill>
                <a:latin typeface="Cambria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38328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das crianças alfabetizadas ao fim do 2º ano até 2030: a meta nacional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ONDE ESTAMOS E O QUE VAMOS RESPONDER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Avançamos, mas ainda faltam 14 pontos até a meta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B72"/>
                </a:solidFill>
                <a:latin typeface="Cambria"/>
              </a:rPr>
              <a:t>55,9%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7860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crianças alfabetizadas em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64653"/>
                </a:solidFill>
                <a:latin typeface="Cambria"/>
              </a:rPr>
              <a:t>59,2%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4164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em 2024, abaixo da meta do ano (59,9%)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A9D8F"/>
                </a:solidFill>
                <a:latin typeface="Cambria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0468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em 2025, acima da meta do ano (63,8%)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783080"/>
            <a:ext cx="6766560" cy="448056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0116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64653"/>
                </a:solidFill>
                <a:latin typeface="Calibri"/>
              </a:rPr>
              <a:t>As cinco perguntas de negócio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2606040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6060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fatores mais impactam a alfabetização?</a:t>
            </a:r>
          </a:p>
        </p:txBody>
      </p:sp>
      <p:sp>
        <p:nvSpPr>
          <p:cNvPr id="14" name="Oval 13"/>
          <p:cNvSpPr/>
          <p:nvPr/>
        </p:nvSpPr>
        <p:spPr>
          <a:xfrm>
            <a:off x="5212080" y="3319272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31927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variáveis possuem maior influência nos modelos?</a:t>
            </a:r>
          </a:p>
        </p:txBody>
      </p:sp>
      <p:sp>
        <p:nvSpPr>
          <p:cNvPr id="16" name="Oval 15"/>
          <p:cNvSpPr/>
          <p:nvPr/>
        </p:nvSpPr>
        <p:spPr>
          <a:xfrm>
            <a:off x="5212080" y="4032504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403250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regiões possuem padrões semelhantes?</a:t>
            </a:r>
          </a:p>
        </p:txBody>
      </p:sp>
      <p:sp>
        <p:nvSpPr>
          <p:cNvPr id="18" name="Oval 17"/>
          <p:cNvSpPr/>
          <p:nvPr/>
        </p:nvSpPr>
        <p:spPr>
          <a:xfrm>
            <a:off x="5212080" y="4745736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74573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Quais municípios apresentam maior risco educacional?</a:t>
            </a:r>
          </a:p>
        </p:txBody>
      </p:sp>
      <p:sp>
        <p:nvSpPr>
          <p:cNvPr id="20" name="Oval 19"/>
          <p:cNvSpPr/>
          <p:nvPr/>
        </p:nvSpPr>
        <p:spPr>
          <a:xfrm>
            <a:off x="5212080" y="5458968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545896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D33"/>
                </a:solidFill>
                <a:latin typeface="Calibri"/>
              </a:rPr>
              <a:t>Como prever municípios que podem não atingir metas futuras?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A média esconde quase 50 pontos de diferença entre estados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78308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Picture 4" descr="eda_02_taxa_por_u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778" y="1691640"/>
            <a:ext cx="4850444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COMO CHEGAMOS ÀS RESPOSTAS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Dados públicos, dois modelos e validação contra a realidade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20440" cy="43434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94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64653"/>
                </a:solidFill>
                <a:latin typeface="Calibri"/>
              </a:rPr>
              <a:t>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28803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3,35 milhões de crianças avaliadas em 2023 e 2024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Censo Escolar, fluxo escolar, nível socioeconômico (INSE), PIB e IDHM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Contexto de 5,5 mil municípios e suas redes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76F51"/>
                </a:solidFill>
                <a:latin typeface="Cambria"/>
              </a:rPr>
              <a:t>5 fontes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77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públicas integradas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828800"/>
            <a:ext cx="3520440" cy="43434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0872" y="21488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6672" y="2194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64653"/>
                </a:solidFill>
                <a:latin typeface="Calibri"/>
              </a:rPr>
              <a:t>Modelos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926080"/>
            <a:ext cx="28803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Risco de cada criança não se alfabetizar (LightGBM)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Chance de cada rede municipal bater a meta do ano seguinte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Grupos de municípios com contexto parecido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49834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76F51"/>
                </a:solidFill>
                <a:latin typeface="Cambria"/>
              </a:rPr>
              <a:t>66%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5577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do sinal possível capturado pelo modelo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828800"/>
            <a:ext cx="3520440" cy="43434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13064" y="21488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21945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64653"/>
                </a:solidFill>
                <a:latin typeface="Calibri"/>
              </a:rPr>
              <a:t>Validação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3064" y="2926080"/>
            <a:ext cx="28803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Treino com 2023, teste com 2024: dados que o modelo nunca viu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Probabilidades calibradas: 70% previsto ≈ 70% real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Previsões comparadas com os resultados estaduais de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49834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76F51"/>
                </a:solidFill>
                <a:latin typeface="Cambria"/>
              </a:rPr>
              <a:t>2 testes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557784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contra dados reais: 2024 e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1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fatores mais impactam a alfabetização?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trajetória escolar e política estadual pesam mais que a renda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2194560"/>
          <a:ext cx="65836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98079" y="2560320"/>
            <a:ext cx="4114800" cy="31546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80360"/>
            <a:ext cx="3520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Trajetória escolar (31%):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redes com atraso e abandono nos anos iniciais alfabetizam menos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Política estadual (30%):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o estado pesa tanto quanto o contexto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Nível socioeconômico (19%):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importa, mas vem só em 3º lugar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Infraestrutura e formação docente pesam menos depois desses fatores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1 · 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Contexto não é destino: um município cearense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5B6B72"/>
                </a:solidFill>
                <a:latin typeface="Cambria"/>
              </a:rPr>
              <a:t>76%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das crianças do município em situação de pobreza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82880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2A9D8F"/>
                </a:solidFill>
                <a:latin typeface="Cambria"/>
              </a:rP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7860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de chance prevista de alfabetização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4937760" cy="20116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O que a rede faz diferente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Abandono zero e 100% de aprovação no 2º ano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Distorção idade-série de apenas 1,9%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78% das matrículas em tempo integral</a:t>
            </a:r>
          </a:p>
        </p:txBody>
      </p:sp>
      <p:pic>
        <p:nvPicPr>
          <p:cNvPr id="12" name="Picture 11" descr="int_09_local_menor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145868"/>
            <a:ext cx="5897880" cy="37549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2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variáveis possuem maior influência nos modelos?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estado, distorção idade-série, abandono e nível socioeconômico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2194560"/>
          <a:ext cx="676656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2560320"/>
            <a:ext cx="3931920" cy="31546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8346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Duas técnicas, o mesmo ranking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337560"/>
            <a:ext cx="3337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400" b="1" i="0">
                <a:solidFill>
                  <a:srgbClr val="1F2D33"/>
                </a:solidFill>
                <a:latin typeface="Calibri"/>
              </a:rPr>
              <a:t>SHAP: </a:t>
            </a:r>
            <a:r>
              <a:rPr sz="1400" b="0" i="0">
                <a:solidFill>
                  <a:srgbClr val="1F2D33"/>
                </a:solidFill>
                <a:latin typeface="Calibri"/>
              </a:rPr>
              <a:t>quanto cada variável move a previsão de cada criança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1" i="0">
                <a:solidFill>
                  <a:srgbClr val="1F2D33"/>
                </a:solidFill>
                <a:latin typeface="Calibri"/>
              </a:rPr>
              <a:t>Permutação: </a:t>
            </a:r>
            <a:r>
              <a:rPr sz="1400" b="0" i="0">
                <a:solidFill>
                  <a:srgbClr val="1F2D33"/>
                </a:solidFill>
                <a:latin typeface="Calibri"/>
              </a:rPr>
              <a:t>quanto o acerto cai sem a variável; o estado sozinho tira 0,037 do AUC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Variáveis parecidas (IDHM, renda, pobreza) dividem a influência; por isso a leitura por tema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2 · 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O efeito do estado e os limiares que mudam a chance</a:t>
            </a:r>
          </a:p>
        </p:txBody>
      </p:sp>
      <p:pic>
        <p:nvPicPr>
          <p:cNvPr id="5" name="Picture 4" descr="int_05_efeito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16" y="1691640"/>
            <a:ext cx="502448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807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Descontado o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28600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O Ceará alfabetiza muito acima do que sua renda prevê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GO, ES, PR e PE também entregam mais que o esperado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500" b="0" i="0">
                <a:solidFill>
                  <a:srgbClr val="1F2D33"/>
                </a:solidFill>
                <a:latin typeface="Calibri"/>
              </a:rPr>
              <a:t>SE, RN, TO e BA entregam menos do que poderiam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3794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64653"/>
                </a:solidFill>
                <a:latin typeface="Calibri"/>
              </a:rPr>
              <a:t>Os efeitos funcionam por limiares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4251960"/>
            <a:ext cx="1737360" cy="192024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389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76F51"/>
                </a:solidFill>
                <a:latin typeface="Cambria"/>
              </a:rPr>
              <a:t>&gt; 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074920"/>
            <a:ext cx="141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 distorção idade-série derruba a chance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251960"/>
            <a:ext cx="1737360" cy="192024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4389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76F51"/>
                </a:solidFill>
                <a:latin typeface="Cambria"/>
              </a:rPr>
              <a:t>&gt; 0,5%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5074920"/>
            <a:ext cx="141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 abandono já muda o sinal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798" y="4251960"/>
            <a:ext cx="1737360" cy="192024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12678" y="43891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76F51"/>
                </a:solidFill>
                <a:latin typeface="Cambria"/>
              </a:rPr>
              <a:t>&lt; 4,8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78" y="5074920"/>
            <a:ext cx="1417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 INSE: degrau socioeconômico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3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regiões possuem padrões semelhantes?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cinco perfis; com a mesma pobreza, 21 pontos de diferença</a:t>
            </a:r>
          </a:p>
        </p:txBody>
      </p:sp>
      <p:pic>
        <p:nvPicPr>
          <p:cNvPr id="6" name="Picture 5" descr="_mapa_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83" y="2103120"/>
            <a:ext cx="4341474" cy="4434840"/>
          </a:xfrm>
          <a:prstGeom prst="rect">
            <a:avLst/>
          </a:prstGeom>
        </p:spPr>
      </p:pic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394960" y="2194560"/>
          <a:ext cx="621792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394960" y="4983480"/>
            <a:ext cx="6217920" cy="11430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51206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F2D33"/>
                </a:solidFill>
                <a:latin typeface="Calibri"/>
              </a:rPr>
              <a:t>Mesma pobreza infantil (~56%) e mesmo INSE: </a:t>
            </a:r>
            <a:r>
              <a:rPr sz="1400" b="0" i="0">
                <a:solidFill>
                  <a:srgbClr val="1F2D33"/>
                </a:solidFill>
                <a:latin typeface="Calibri"/>
              </a:rPr>
              <a:t>o grupo com fluxo regular alfabetiza 63%; o com fluxo crítico, 42%. A diferença está na distorção idade-série: 6% contra 16%.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3 · 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Em todo perfil há municípios que superam o esperado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75895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691640"/>
                <a:gridCol w="548640"/>
                <a:gridCol w="82296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Grupo de contexto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Município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Esperado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Acima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Fluxo escolar crítico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Tartarugalzinho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94%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+50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Fluxo escolar crítico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Itaueira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PI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+42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Vulnerável com fluxo regular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Jequiá da Praia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+44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Vulnerável com fluxo regular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Taperoá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+43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Áreas diferenciadas e rurais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Barreirinhas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+32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Áreas diferenciadas e rurais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Atalaia do Norte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+35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Urbano de maior porte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Corinto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+32 p.p.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Pequenos desenvolvidos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Carlinda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+38 p.p.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828800"/>
            <a:ext cx="3108960" cy="29260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574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76F51"/>
                </a:solidFill>
                <a:latin typeface="Calibri"/>
              </a:rPr>
              <a:t>Como usar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560320"/>
            <a:ext cx="26060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Comparar cada rede com seus pares de contexto, não com a média do país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Estudar e visitar as referências do mesmo grupo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1F2D33"/>
                </a:solidFill>
                <a:latin typeface="Calibri"/>
              </a:rPr>
              <a:t>Validar com as secretarias antes de difundir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B6B72"/>
                </a:solidFill>
                <a:latin typeface="Calibri"/>
              </a:rPr>
              <a:t>Esperado = taxa prevista pelo modelo para o contexto da rede. Redes com 50+ alunos avaliados e participação de 80%+ na prova.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4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Quais municípios apresentam maior risco educacional?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gravidade concentrada na Bahia; volume nas grandes capitais</a:t>
            </a:r>
          </a:p>
        </p:txBody>
      </p:sp>
      <p:pic>
        <p:nvPicPr>
          <p:cNvPr id="6" name="Picture 5" descr="app_03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08292"/>
            <a:ext cx="4572000" cy="3733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2194560"/>
            <a:ext cx="2971800" cy="40690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23774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76F51"/>
                </a:solidFill>
                <a:latin typeface="Calibri"/>
              </a:rPr>
              <a:t>Por gravidade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276148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B72"/>
                </a:solidFill>
                <a:latin typeface="Calibri"/>
              </a:rPr>
              <a:t>% das redes no decil de maior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3246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Bahia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24612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3794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Sergipe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3794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4343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Amazonas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3434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31%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8920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Rio Grande do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8920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54406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Pará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440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29%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2194560"/>
            <a:ext cx="2971800" cy="406908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23774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76F51"/>
                </a:solidFill>
                <a:latin typeface="Calibri"/>
              </a:rPr>
              <a:t>Por volume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76148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B72"/>
                </a:solidFill>
                <a:latin typeface="Calibri"/>
              </a:rPr>
              <a:t>crianças não alfabetizadas (rede municipal)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246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São Paulo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24612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21,6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3794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Rio de Janeiro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3794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15,7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43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Manaus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3434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9,3 mil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8920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Salvador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489204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7,7 mil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553212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1F2D33"/>
                </a:solidFill>
                <a:latin typeface="Calibri"/>
              </a:rPr>
              <a:t>São Paulo alfabetiza 48%; o contexto previa 56%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4 · 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Gravidade e volume juntos: 37 redes, 58 mil crianças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75895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48640"/>
                <a:gridCol w="960120"/>
                <a:gridCol w="96012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Rede municipal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Taxa 2024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Esperado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Risco de não bater a meta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Não alfabetizadas</a:t>
                      </a:r>
                    </a:p>
                  </a:txBody>
                  <a:tcPr marL="91440" marR="91440" anchor="ctr">
                    <a:solidFill>
                      <a:srgbClr val="26465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Salvador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7,7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Nova Iguaçu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4,2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Duque de Caxias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3,6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Maceió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3,1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São Gonçalo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46%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2,5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Campos dos Goytacazes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2,4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Feira de Santana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2,4 mil</a:t>
                      </a:r>
                    </a:p>
                  </a:txBody>
                  <a:tcPr marL="91440" marR="91440" anchor="ctr">
                    <a:solidFill>
                      <a:srgbClr val="EEF3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Macapá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D33"/>
                          </a:solidFill>
                          <a:latin typeface="Calibri"/>
                        </a:rPr>
                        <a:t>2,2 mil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76F51"/>
                </a:solidFill>
                <a:latin typeface="Cambria"/>
              </a:rPr>
              <a:t>37 redes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5786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com índice de risco alto (≥ 0,85) e 1.000+ alunos avaliados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429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64653"/>
                </a:solidFill>
                <a:latin typeface="Cambria"/>
              </a:rPr>
              <a:t>58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4178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crianças não alfabetizadas nessas redes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4892040"/>
            <a:ext cx="3108960" cy="105156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502920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F2D33"/>
                </a:solidFill>
                <a:latin typeface="Calibri"/>
              </a:rPr>
              <a:t>Destaque: a Baixada Fluminense (Nova Iguaçu, Duque de Caxias, São Gonçalo, Belford Roxo)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5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Como prever municípios que podem não atingir metas futuras?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619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Resposta: </a:t>
            </a:r>
            <a:r>
              <a:rPr sz="2000" b="1" i="0">
                <a:solidFill>
                  <a:srgbClr val="2A9D8F"/>
                </a:solidFill>
                <a:latin typeface="Calibri"/>
              </a:rPr>
              <a:t>um modelo de transição que vira alerta de prioridade, não sentença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64653"/>
                </a:solidFill>
                <a:latin typeface="Calibri"/>
              </a:rPr>
              <a:t>Aprende: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como as redes de 2023 se saíram frente à meta de 2024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502920" cy="502920"/>
          </a:xfrm>
          <a:prstGeom prst="ellipse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1752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64653"/>
                </a:solidFill>
                <a:latin typeface="Calibri"/>
              </a:rPr>
              <a:t>Projeta: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a chance de cada rede bater a meta de 2025, com os dados de 2024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88620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64653"/>
                </a:solidFill>
                <a:latin typeface="Calibri"/>
              </a:rPr>
              <a:t>Protege: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estados com choque atípico, como o RS nas enchentes, não viram tendência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04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A9D8F"/>
                </a:solidFill>
                <a:latin typeface="Cambria"/>
              </a:rPr>
              <a:t>54%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418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das redes devem bater a meta de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89204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76F51"/>
                </a:solidFill>
                <a:latin typeface="Cambria"/>
              </a:rPr>
              <a:t>1.431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64184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redes com menos de 40% de chance</a:t>
            </a:r>
          </a:p>
        </p:txBody>
      </p:sp>
      <p:pic>
        <p:nvPicPr>
          <p:cNvPr id="16" name="Picture 15" descr="app_00_choques_estadu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427" y="2103120"/>
            <a:ext cx="5489865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47472"/>
            <a:ext cx="384048" cy="38404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3840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PERGUNTA 5 · EVIDÊNCIA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Em 2025, o modelo acertou a direção e foi conservador no nível</a:t>
            </a:r>
          </a:p>
        </p:txBody>
      </p:sp>
      <p:pic>
        <p:nvPicPr>
          <p:cNvPr id="5" name="Picture 4" descr="eda_12_metas_estadu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43" y="1691640"/>
            <a:ext cx="4895953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82880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A9D8F"/>
                </a:solidFill>
                <a:latin typeface="Cambria"/>
              </a:rPr>
              <a:t>0,43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57860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correlação entre a chance prevista e o estado ter batido a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28800"/>
            <a:ext cx="2834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76F51"/>
                </a:solidFill>
                <a:latin typeface="Cambria"/>
              </a:rPr>
              <a:t>52% → 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578608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B6B72"/>
                </a:solidFill>
                <a:latin typeface="Calibri"/>
              </a:rPr>
              <a:t>chance média prevista x estados que bateram a meta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520440"/>
            <a:ext cx="5760720" cy="2286000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749039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Direção certa: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CE, GO, ES e MG, apontados como seguros, bateram a meta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Nível conservador: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2025 teve um avanço amplo que nenhum dado anterior antecipava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1" i="0">
                <a:solidFill>
                  <a:srgbClr val="1F2D33"/>
                </a:solidFill>
                <a:latin typeface="Calibri"/>
              </a:rPr>
              <a:t>Bahia: </a:t>
            </a:r>
            <a:r>
              <a:rPr sz="1500" b="0" i="0">
                <a:solidFill>
                  <a:srgbClr val="1F2D33"/>
                </a:solidFill>
                <a:latin typeface="Calibri"/>
              </a:rPr>
              <a:t>menor chance prevista e maior salto do país, de 36% para 55%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VALOR ESTRATÉGICO PARA AS POLÍTICAS PÚBLICAS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64653"/>
                </a:solidFill>
                <a:latin typeface="Cambria"/>
              </a:rPr>
              <a:t>Cinco recomendações para a gestão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920240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83080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Priorizar recursos com o ranking de risco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Gravidade para a Bahia e o Nordeste; volume para as grandes redes urbanas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79192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16352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79192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Atacar o fluxo escolar nos anos iniciais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679192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Busca ativa, frequência e recomposição: a alavanca mais forte e acionável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75304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12464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575304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Expandir o regime de colaboração Estado-municípios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575304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No modelo do Ceará, começando pelos estados abaixo do esperado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71416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08576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71416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Conectar municípios parecidos às suas referências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71416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Intercâmbio com quem alfabetiza muito acima do esperado no mesmo grupo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67528"/>
            <a:ext cx="11094415" cy="768096"/>
          </a:xfrm>
          <a:prstGeom prst="roundRect">
            <a:avLst>
              <a:gd name="adj" fmla="val 6000"/>
            </a:avLst>
          </a:prstGeom>
          <a:solidFill>
            <a:srgbClr val="EE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5504688"/>
            <a:ext cx="493776" cy="493776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367528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64653"/>
                </a:solidFill>
                <a:latin typeface="Calibri"/>
              </a:rPr>
              <a:t>Usar o alerta de metas antes da prova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367528"/>
            <a:ext cx="52120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D33"/>
                </a:solidFill>
                <a:latin typeface="Calibri"/>
              </a:rPr>
              <a:t>Agir no mesmo ano e retreinar o modelo a cada novo resultado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465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76F51"/>
                </a:solidFill>
                <a:latin typeface="Calibri"/>
              </a:rPr>
              <a:t>MENSAGEM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Os modelos dizem onde olhar primeiro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65760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886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Retreinar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com os resultados municipais de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365760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19" y="3886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Validar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19" y="43891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as referências com as secretarias antes de difundi-las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8" y="3657600"/>
            <a:ext cx="3474720" cy="1737360"/>
          </a:xfrm>
          <a:prstGeom prst="roundRect">
            <a:avLst>
              <a:gd name="adj" fmla="val 6000"/>
            </a:avLst>
          </a:prstGeom>
          <a:solidFill>
            <a:srgbClr val="2F56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8" y="3886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76F51"/>
                </a:solidFill>
                <a:latin typeface="Calibri"/>
              </a:rPr>
              <a:t>Acompanhar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8" y="438912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o efeito das ações nas redes priorizadas a cada ciclo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FE3E0"/>
                </a:solidFill>
                <a:latin typeface="Calibri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Alfabetização no Brasil: cinco perguntas para decidir onde agir</dc:title>
  <dc:subject/>
  <dc:creator>eliaslopesjr1-maker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