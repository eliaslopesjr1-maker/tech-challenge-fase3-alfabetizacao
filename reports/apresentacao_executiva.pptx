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64653"/>
                </a:solidFill>
              </a:rPr>
              <a:t>Brasil: % de crianças alfabetizadas x meta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ln w="31750">
              <a:solidFill>
                <a:srgbClr val="E76F51"/>
              </a:solidFill>
            </a:ln>
          </c:spPr>
          <c:marker>
            <c:spPr>
              <a:solidFill>
                <a:srgbClr val="E76F51"/>
              </a:solidFill>
              <a:ln>
                <a:solidFill>
                  <a:srgbClr val="E76F51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1200" b="1">
                    <a:solidFill>
                      <a:srgbClr val="E76F51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55.9</c:v>
                </c:pt>
                <c:pt idx="1">
                  <c:v>59.2</c:v>
                </c:pt>
                <c:pt idx="2">
                  <c:v>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nacional</c:v>
                </c:pt>
              </c:strCache>
            </c:strRef>
          </c:tx>
          <c:spPr>
            <a:ln w="19050">
              <a:solidFill>
                <a:srgbClr val="5B6B72"/>
              </a:solidFill>
            </a:ln>
          </c:spPr>
          <c:marker>
            <c:spPr>
              <a:solidFill>
                <a:srgbClr val="5B6B72"/>
              </a:solidFill>
              <a:ln>
                <a:solidFill>
                  <a:srgbClr val="5B6B72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1">
                  <c:v>59.9</c:v>
                </c:pt>
                <c:pt idx="2">
                  <c:v>63.8</c:v>
                </c:pt>
                <c:pt idx="3">
                  <c:v>67.5</c:v>
                </c:pt>
                <c:pt idx="4">
                  <c:v>71.0</c:v>
                </c:pt>
                <c:pt idx="5">
                  <c:v>74.2</c:v>
                </c:pt>
                <c:pt idx="6">
                  <c:v>77.2</c:v>
                </c:pt>
                <c:pt idx="7">
                  <c:v>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5.0"/>
          <c:min val="40.0"/>
        </c:scaling>
        <c:delete val="0"/>
        <c:axPos val="l"/>
        <c:majorGridlines>
          <c:spPr>
            <a:ln>
              <a:solidFill>
                <a:srgbClr val="DDE3E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B6B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64653"/>
                </a:solidFill>
              </a:rPr>
              <a:t>Peso de cada tema na previsão (SHAP agregado, % do total)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importância</c:v>
                </c:pt>
              </c:strCache>
            </c:strRef>
          </c:tx>
          <c:spPr>
            <a:solidFill>
              <a:srgbClr val="264653"/>
            </a:solidFill>
          </c:spPr>
          <c:dPt>
            <c:idx val="5"/>
            <c:spPr>
              <a:solidFill>
                <a:srgbClr val="E76F51"/>
              </a:solidFill>
            </c:spPr>
          </c:dPt>
          <c:dPt>
            <c:idx val="6"/>
            <c:spPr>
              <a:solidFill>
                <a:srgbClr val="E76F51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300" b="1">
                    <a:solidFill>
                      <a:srgbClr val="1F2D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Docentes e equipe</c:v>
                </c:pt>
                <c:pt idx="1">
                  <c:v>Infraestrutura escolar</c:v>
                </c:pt>
                <c:pt idx="2">
                  <c:v>Ruralidade e diversidade</c:v>
                </c:pt>
                <c:pt idx="3">
                  <c:v>Porte da rede e do município</c:v>
                </c:pt>
                <c:pt idx="4">
                  <c:v>Nível socioeconômico</c:v>
                </c:pt>
                <c:pt idx="5">
                  <c:v>Estado (UF) e região</c:v>
                </c:pt>
                <c:pt idx="6">
                  <c:v>Trajetória escolar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</c:v>
                </c:pt>
                <c:pt idx="1">
                  <c:v>4.8</c:v>
                </c:pt>
                <c:pt idx="2">
                  <c:v>5.9</c:v>
                </c:pt>
                <c:pt idx="3">
                  <c:v>6.0</c:v>
                </c:pt>
                <c:pt idx="4">
                  <c:v>19.0</c:v>
                </c:pt>
                <c:pt idx="5">
                  <c:v>29.5</c:v>
                </c:pt>
                <c:pt idx="6">
                  <c:v>30.8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B6B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264653"/>
                </a:solidFill>
              </a:rPr>
              <a:t>% de alfabetizados por grupo de contexto (2024)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Taxa 2024</c:v>
                </c:pt>
              </c:strCache>
            </c:strRef>
          </c:tx>
          <c:dPt>
            <c:idx val="0"/>
            <c:spPr>
              <a:solidFill>
                <a:srgbClr val="E76F51"/>
              </a:solidFill>
            </c:spPr>
          </c:dPt>
          <c:dPt>
            <c:idx val="1"/>
            <c:spPr>
              <a:solidFill>
                <a:srgbClr val="F4A261"/>
              </a:solidFill>
            </c:spPr>
          </c:dPt>
          <c:dPt>
            <c:idx val="2"/>
            <c:spPr>
              <a:solidFill>
                <a:srgbClr val="E9C46A"/>
              </a:solidFill>
            </c:spPr>
          </c:dPt>
          <c:dPt>
            <c:idx val="3"/>
            <c:spPr>
              <a:solidFill>
                <a:srgbClr val="2A9D8F"/>
              </a:solidFill>
            </c:spPr>
          </c:dPt>
          <c:dPt>
            <c:idx val="4"/>
            <c:spPr>
              <a:solidFill>
                <a:srgbClr val="264653"/>
              </a:solidFill>
            </c:spPr>
          </c:dPt>
          <c:dLbls>
            <c:numFmt formatCode="0&quot;%&quot;" sourceLinked="0"/>
            <c:txPr>
              <a:bodyPr/>
              <a:lstStyle/>
              <a:p>
                <a:pPr>
                  <a:defRPr sz="1300" b="1">
                    <a:solidFill>
                      <a:srgbClr val="1F2D3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Fluxo escolar crítico</c:v>
                </c:pt>
                <c:pt idx="1">
                  <c:v>Áreas diferenciadas e rurais</c:v>
                </c:pt>
                <c:pt idx="2">
                  <c:v>Urbano de maior porte</c:v>
                </c:pt>
                <c:pt idx="3">
                  <c:v>Vulnerável com fluxo regular</c:v>
                </c:pt>
                <c:pt idx="4">
                  <c:v>Pequenos desenvolvidos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41.9</c:v>
                </c:pt>
                <c:pt idx="1">
                  <c:v>50.0</c:v>
                </c:pt>
                <c:pt idx="2">
                  <c:v>59.3</c:v>
                </c:pt>
                <c:pt idx="3">
                  <c:v>62.9</c:v>
                </c:pt>
                <c:pt idx="4">
                  <c:v>70.5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5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B72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 a todos. Vou apresentar o que os dados de alfabetização nos dizem sobre onde agir e com qual alavanca para chegar à meta de 80% de crianças alfabetizadas até 2030.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Brasil avançou: de 56% em 2023 para 66% em 2025, acima da meta do ano. Mas ainda faltam 14 pontos até 2030, e a média esconde o essencial. Trouxemos respostas para cinco perguntas de negócio.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diferença entre estados chega a quase 50 pontos: 36% na Bahia e 85% no Ceará em 2024. A pergunta que trouxemos é onde agir, e com qual alavanca.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os microdados de 3,3 milhões de crianças e cruzamos com Censo Escolar, fluxo escolar, nível socioeconômico, PIB e IDHM. Construímos dois modelos: um estima o risco de cada criança e outro antecipa quais redes não devem bater a meta. Tudo foi validado com dados que o modelo nunca viu.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mais pesa? Em primeiro lugar, a trajetória escolar: redes onde as crianças atrasam ou abandonam nos anos iniciais. Em segundo, o estado, ou seja, a política estadual. O nível socioeconômico vem só em terceiro. As duas alavancas mais fortes estão ao alcance da gestão.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Descontado o contexto, o Ceará alfabetiza muito acima do que sua renda faria esperar, efeito associado a quase 20 anos de regime de colaboração com os municípios. Sergipe, Rio Grande do Norte, Tocantins e Bahia entregam menos do que poderiam. E os efeitos têm limiares: acima de 8% de distorção ou de meio por cento de abandono, a chance cai.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exemplo: um município cearense com 76% das crianças na pobreza tem previsão de 95% de alfabetização. A rede tem abandono zero, quase nenhuma distorção idade-série e tempo integral. O contexto importa, mas não decide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Agrupamos os municípios por contexto. Os dois grupos vulneráveis têm a mesma pobreza e o mesmo nível socioeconômico, mas um alfabetiza 63% e o outro 42%. São 21 pontos, explicados pelo fluxo escolar. E em todo grupo há municípios-referência, como Barreirinhas, no Maranhão.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índice de risco combina o resultado atual, o contexto e a chance de não bater a meta. Por gravidade, 84% das redes municipais da Bahia estão no grupo de maior risco. Por volume, só a rede de São Paulo tem 21 mil crianças não alfabetizadas, abaixo do que o contexto permitiria, seguida de Rio, Manaus e Salvador.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as metas, o modelo aprende como as redes se saíram de um ano para o outro e projeta a chance de cada uma bater a meta de 2025. Cerca de 1.400 redes têm menos de 40% de chance. O Rio Grande do Sul caiu 22 pontos em 2024 por causa das enchentes, e o modelo foi desenhado para não projetar esse choque como tendência.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Comparamos a previsão com o que aconteceu em 2025 nos estados. O modelo acertou a direção: os estados apontados como mais seguros bateram a meta. Mas foi conservador, porque 2025 teve um avanço muito maior que o esperado. A Bahia, a mais crítica, deu o maior salto do país. Ela continua entre as menores taxas e precisa de prioridade, e o que mudou lá merece ser estudado.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Nossa proposta: primeiro, priorizar recursos com o ranking de risco. Segundo, atacar o fluxo escolar nos anos iniciais. Terceiro, expandir o regime de colaboração no modelo do Ceará. Quarto, conectar municípios parecidos às suas referências. E quinto, usar o alerta de metas antes da prova, para agir no mesmo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modelos não substituem o olhar das secretarias: eles dizem onde olhar primeiro. Com os resultados de 2025, retreinamos tudo, e o alerta fica mais preciso a cada ciclo.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TECH CHALLENGE · FASE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6949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Alfabetização no Brasil: onde agir e com qual alavanca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77639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FE3E0"/>
                </a:solidFill>
                <a:latin typeface="Calibri"/>
              </a:rPr>
              <a:t>Predição e inteligência analítica a partir do Indicador Criança Alfabetizada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FE3E0"/>
                </a:solidFill>
                <a:latin typeface="Calibri"/>
              </a:rPr>
              <a:t>Reunião executiva com gestores públicos de educação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2F5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92024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8000" b="1" i="0">
                <a:solidFill>
                  <a:srgbClr val="E76F51"/>
                </a:solidFill>
                <a:latin typeface="Cambria"/>
              </a:rPr>
              <a:t>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3832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das crianças alfabetizadas ao fim do 2º ano até 2030: a meta 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ONDE ESTAMOS E O QUE VAMOS RESPONDER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Avançamos, mas ainda faltam 14 pontos até a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5B6B72"/>
                </a:solidFill>
                <a:latin typeface="Cambria"/>
              </a:rPr>
              <a:t>55,9%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crianças alfabetizadas em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64653"/>
                </a:solidFill>
                <a:latin typeface="Cambria"/>
              </a:rPr>
              <a:t>59,2%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4164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em 2024, abaixo da meta do ano (59,9%)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3840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A9D8F"/>
                </a:solidFill>
                <a:latin typeface="Cambria"/>
              </a:rPr>
              <a:t>66%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0468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em 2025, acima da meta do ano (63,8%)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783080"/>
            <a:ext cx="6766560" cy="448056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201168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64653"/>
                </a:solidFill>
                <a:latin typeface="Calibri"/>
              </a:rPr>
              <a:t>As cinco perguntas de negócio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2606040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606040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D33"/>
                </a:solidFill>
                <a:latin typeface="Calibri"/>
              </a:rPr>
              <a:t>Quais fatores mais impactam a alfabetização?</a:t>
            </a:r>
          </a:p>
        </p:txBody>
      </p:sp>
      <p:sp>
        <p:nvSpPr>
          <p:cNvPr id="14" name="Oval 13"/>
          <p:cNvSpPr/>
          <p:nvPr/>
        </p:nvSpPr>
        <p:spPr>
          <a:xfrm>
            <a:off x="5212080" y="3319272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31927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D33"/>
                </a:solidFill>
                <a:latin typeface="Calibri"/>
              </a:rPr>
              <a:t>Quais variáveis possuem maior influência nos modelos?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4032504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032504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D33"/>
                </a:solidFill>
                <a:latin typeface="Calibri"/>
              </a:rPr>
              <a:t>Quais regiões possuem padrões semelhantes?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4745736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745736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D33"/>
                </a:solidFill>
                <a:latin typeface="Calibri"/>
              </a:rPr>
              <a:t>Quais municípios apresentam maior risco educacional?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5458968"/>
            <a:ext cx="457200" cy="45720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5458968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1F2D33"/>
                </a:solidFill>
                <a:latin typeface="Calibri"/>
              </a:rPr>
              <a:t>Como prever municípios que podem não atingir metas futuras?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A média esconde quase 50 pontos de diferença entre estados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78308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eda_02_taxa_por_u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778" y="1691640"/>
            <a:ext cx="485044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COMO CHEGAMOS ÀS RESPOSTAS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Dados públicos, dois modelos e validação contra a realidade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64653"/>
                </a:solidFill>
                <a:latin typeface="Calibri"/>
              </a:rPr>
              <a:t>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3,35 milhões de crianças avaliadas em 2023 e 2024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Censo Escolar, fluxo escolar, nível socioeconômico (INSE), PIB e IDHM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Contexto de 5,5 mil municípios e suas redes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76F51"/>
                </a:solidFill>
                <a:latin typeface="Cambria"/>
              </a:rPr>
              <a:t>5 fontes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públicas integradas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0872" y="214884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672" y="2194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64653"/>
                </a:solidFill>
                <a:latin typeface="Calibri"/>
              </a:rPr>
              <a:t>Modelos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92608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Risco de cada criança não se alfabetizar (LightGBM)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Chance de cada rede municipal bater a meta do ano seguinte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Grupos de municípios com contexto parecido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49834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76F51"/>
                </a:solidFill>
                <a:latin typeface="Cambria"/>
              </a:rPr>
              <a:t>66%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5577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do sinal possível capturado pelo modelo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82880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13064" y="2148840"/>
            <a:ext cx="548640" cy="548640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21945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64653"/>
                </a:solidFill>
                <a:latin typeface="Calibri"/>
              </a:rPr>
              <a:t>Validação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926080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Treino com 2023, teste com 2024: dados que o modelo nunca viu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Probabilidades calibradas: 70% previsto ≈ 70% real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Previsões comparadas com os resultados estaduais de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9834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E76F51"/>
                </a:solidFill>
                <a:latin typeface="Cambria"/>
              </a:rPr>
              <a:t>2 testes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557784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contra dados reais: 2024 e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474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QUAIS FATORES MAIS IMPACTAM A ALFABETIZAÇÃO?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Trajetória escolar e política estadual pesam mais que a renda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783080"/>
          <a:ext cx="65836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98079" y="1783080"/>
            <a:ext cx="4114800" cy="448056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057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76F51"/>
                </a:solidFill>
                <a:latin typeface="Calibri"/>
              </a:rPr>
              <a:t>Resposta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560320"/>
            <a:ext cx="35204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Trajetória escolar (31%):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redes com atraso e abandono nos anos iniciais alfabetizam menos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Política estadual (30%):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o estado pesa tanto quanto o contexto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Nível socioeconômico (19%):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importa, mas vem só em 3º lugar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Infraestrutura e formação docente têm peso menor depois desses fatores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474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QUAIS VARIÁVEIS POSSUEM MAIOR INFLUÊNCIA NOS MODELOS?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O Ceará entrega muito mais do que seu contexto prevê</a:t>
            </a:r>
          </a:p>
        </p:txBody>
      </p:sp>
      <p:pic>
        <p:nvPicPr>
          <p:cNvPr id="5" name="Picture 4" descr="int_05_efeito_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16" y="1691640"/>
            <a:ext cx="5024488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807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Variáveis mais influentes (SHAP e permutação)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228600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Estado (UF), com destaque para o Ceará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Distorção idade-série e abandono nos anos iniciais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Nível socioeconômico dos alunos (INSE)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3794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Os efeitos funcionam por limiares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251960"/>
            <a:ext cx="1737360" cy="192024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4389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76F51"/>
                </a:solidFill>
                <a:latin typeface="Cambria"/>
              </a:rPr>
              <a:t>&gt; 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507492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D33"/>
                </a:solidFill>
                <a:latin typeface="Calibri"/>
              </a:rPr>
              <a:t>de distorção idade-série derruba a chance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251960"/>
            <a:ext cx="1737360" cy="192024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4389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76F51"/>
                </a:solidFill>
                <a:latin typeface="Cambria"/>
              </a:rPr>
              <a:t>&gt; 0,5%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507492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D33"/>
                </a:solidFill>
                <a:latin typeface="Calibri"/>
              </a:rPr>
              <a:t>de abandono já muda o sinal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798" y="4251960"/>
            <a:ext cx="1737360" cy="192024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78" y="4389120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76F51"/>
                </a:solidFill>
                <a:latin typeface="Cambria"/>
              </a:rPr>
              <a:t>&lt; 4,8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78" y="5074920"/>
            <a:ext cx="1417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2D33"/>
                </a:solidFill>
                <a:latin typeface="Calibri"/>
              </a:rPr>
              <a:t>de INSE: degrau socioeconômico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EXEMPLO DE EXPLICAÇÃO INDIVIDUAL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Contexto não é destino: um município cearense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5B6B72"/>
                </a:solidFill>
                <a:latin typeface="Cambria"/>
              </a:rPr>
              <a:t>76%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786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das crianças do município em situação de pobreza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288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2A9D8F"/>
                </a:solidFill>
                <a:latin typeface="Cambria"/>
              </a:rP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25786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de chance prevista de alfabetização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64653"/>
                </a:solidFill>
                <a:latin typeface="Calibri"/>
              </a:rPr>
              <a:t>O que a rede faz diferente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Abandono zero e 100% de aprovação no 2º ano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Distorção idade-série de apenas 1,9%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1500" b="0" i="0">
                <a:solidFill>
                  <a:srgbClr val="1F2D33"/>
                </a:solidFill>
                <a:latin typeface="Calibri"/>
              </a:rPr>
              <a:t>78% das matrículas em tempo integral</a:t>
            </a:r>
          </a:p>
        </p:txBody>
      </p:sp>
      <p:pic>
        <p:nvPicPr>
          <p:cNvPr id="11" name="Picture 10" descr="int_09_local_menor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45868"/>
            <a:ext cx="5897880" cy="37549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474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QUAIS REGIÕES POSSUEM PADRÕES SEMELHANTES?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Mesma pobreza, 21 pontos de diferença na alfabetização</a:t>
            </a:r>
          </a:p>
        </p:txBody>
      </p:sp>
      <p:pic>
        <p:nvPicPr>
          <p:cNvPr id="5" name="Picture 4" descr="_mapa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54" y="1691640"/>
            <a:ext cx="4744292" cy="4846320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0" y="1783080"/>
          <a:ext cx="5943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0" y="4709160"/>
            <a:ext cx="5943600" cy="132588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4846320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D33"/>
                </a:solidFill>
                <a:latin typeface="Calibri"/>
              </a:rPr>
              <a:t>Os dois grupos vulneráveis têm ~56% de pobreza infantil e o mesmo INSE. </a:t>
            </a:r>
            <a:r>
              <a:rPr sz="1400" b="0" i="0">
                <a:solidFill>
                  <a:srgbClr val="1F2D33"/>
                </a:solidFill>
                <a:latin typeface="Calibri"/>
              </a:rPr>
              <a:t>O que separa 63% de 42% é o fluxo escolar: distorção de 6% contra 16%. Em todos os grupos há municípios-referência, 30 a 50 pontos acima do esperado.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474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QUAIS MUNICÍPIOS APRESENTAM MAIOR RISCO EDUCACIONAL?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Gravidade concentrada na Bahia, volume nas grandes capitais</a:t>
            </a:r>
          </a:p>
        </p:txBody>
      </p:sp>
      <p:pic>
        <p:nvPicPr>
          <p:cNvPr id="5" name="Picture 4" descr="app_03_mapa_ri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8272"/>
            <a:ext cx="4572000" cy="37330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40680" y="1783080"/>
            <a:ext cx="2971800" cy="443484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76F51"/>
                </a:solidFill>
                <a:latin typeface="Calibri"/>
              </a:rPr>
              <a:t>Por gravidade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24231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B72"/>
                </a:solidFill>
                <a:latin typeface="Calibri"/>
              </a:rPr>
              <a:t>% das redes no decil de maior risco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29260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Bahia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9260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84%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529584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Sergipe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529584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413308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Amazonas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13308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4736592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Rio Grande do Norte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7365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34009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Pará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53400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29%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1783080"/>
            <a:ext cx="2971800" cy="443484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0116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E76F51"/>
                </a:solidFill>
                <a:latin typeface="Calibri"/>
              </a:rPr>
              <a:t>Por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4231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B6B72"/>
                </a:solidFill>
                <a:latin typeface="Calibri"/>
              </a:rPr>
              <a:t>crianças não alfabetizadas (rede municipal)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9260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São Paulo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926080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21,6 mil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529584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Rio de Janeiro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52958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15,7 mil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413308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Manaus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13308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9,3 mil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736592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Salvador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736592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7,7 mil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440680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1F2D33"/>
                </a:solidFill>
                <a:latin typeface="Calibri"/>
              </a:rPr>
              <a:t>São Paulo alfabetiza 48%; o contexto previa 56%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47472"/>
            <a:ext cx="384048" cy="384048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COMO PREVER MUNICÍPIOS QUE PODEM NÃO ATINGIR METAS FUTURAS?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Prever metas é um alerta para priorizar, não uma sentença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Aprende: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como as redes de 2023 se saíram frente à meta de 2024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432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Projeta: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a chance de cada rede bater a meta de 2025, com os dados de 2024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2646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7033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64653"/>
                </a:solidFill>
                <a:latin typeface="Calibri"/>
              </a:rPr>
              <a:t>Protege: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estados com choque atípico, como o RS nas enchentes, não viram tendência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A9D8F"/>
                </a:solidFill>
                <a:latin typeface="Cambria"/>
              </a:rPr>
              <a:t>54%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50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das redes devem bater a meta de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80060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E76F51"/>
                </a:solidFill>
                <a:latin typeface="Cambria"/>
              </a:rPr>
              <a:t>1.431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550408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redes com menos de 40% de chance</a:t>
            </a:r>
          </a:p>
        </p:txBody>
      </p:sp>
      <p:pic>
        <p:nvPicPr>
          <p:cNvPr id="15" name="Picture 14" descr="app_00_choques_estadu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743" y="1691640"/>
            <a:ext cx="599923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VALIDAÇÃO COM O QUE ACONTECEU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Em 2025, o modelo acertou a direção e foi conservador no nível</a:t>
            </a:r>
          </a:p>
        </p:txBody>
      </p:sp>
      <p:pic>
        <p:nvPicPr>
          <p:cNvPr id="4" name="Picture 3" descr="eda_12_metas_estadua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3" y="1691640"/>
            <a:ext cx="4895953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8288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A9D8F"/>
                </a:solidFill>
                <a:latin typeface="Cambria"/>
              </a:rPr>
              <a:t>0,43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57860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correlação entre a chance prevista e o estado ter batido a 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828800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76F51"/>
                </a:solidFill>
                <a:latin typeface="Cambria"/>
              </a:rPr>
              <a:t>52% → 76%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578608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B72"/>
                </a:solidFill>
                <a:latin typeface="Calibri"/>
              </a:rPr>
              <a:t>chance média prevista x estados que bateram a meta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520440"/>
            <a:ext cx="5760720" cy="22860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749039"/>
            <a:ext cx="52120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Direção certa: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CE, GO, ES e MG, apontados como seguros, bateram a meta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Nível conservador: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2025 teve um avanço amplo que nenhum dado anterior antecipava</a:t>
            </a:r>
          </a:p>
          <a:p>
            <a:pPr algn="l" marL="228600" indent="-228600">
              <a:spcAft>
                <a:spcPts val="800"/>
              </a:spcAft>
              <a:buChar char="•"/>
            </a:pPr>
            <a:r>
              <a:rPr sz="1500" b="1" i="0">
                <a:solidFill>
                  <a:srgbClr val="1F2D33"/>
                </a:solidFill>
                <a:latin typeface="Calibri"/>
              </a:rPr>
              <a:t>Bahia: </a:t>
            </a:r>
            <a:r>
              <a:rPr sz="1500" b="0" i="0">
                <a:solidFill>
                  <a:srgbClr val="1F2D33"/>
                </a:solidFill>
                <a:latin typeface="Calibri"/>
              </a:rPr>
              <a:t>menor chance prevista e maior salto do país, de 36% para 55%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VALOR ESTRATÉGICO PARA AS POLÍTICAS PÚBLICAS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64653"/>
                </a:solidFill>
                <a:latin typeface="Cambria"/>
              </a:rPr>
              <a:t>Cinco recomendações para a gestão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1094415" cy="768096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493776" cy="49377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83080"/>
            <a:ext cx="45720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Priorizar recursos com o ranking de risco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2120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Gravidade para a Bahia e o Nordeste; volume para as grandes capitais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9192"/>
            <a:ext cx="11094415" cy="768096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16352"/>
            <a:ext cx="493776" cy="49377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79192"/>
            <a:ext cx="45720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Atacar o fluxo escolar nos anos iniciais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79192"/>
            <a:ext cx="52120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Busca ativa, frequência e recomposição: a alavanca mais forte e acionável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75304"/>
            <a:ext cx="11094415" cy="768096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12464"/>
            <a:ext cx="493776" cy="49377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575304"/>
            <a:ext cx="45720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Expandir o regime de colaboração Estado-municípios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75304"/>
            <a:ext cx="52120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No modelo do Ceará, começando pelos estados abaixo do esperado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471416"/>
            <a:ext cx="11094415" cy="768096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08576"/>
            <a:ext cx="493776" cy="49377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71416"/>
            <a:ext cx="45720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Conectar municípios parecidos às suas referências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71416"/>
            <a:ext cx="52120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Intercâmbio com quem alfabetiza muito acima do esperado no mesmo grupo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67528"/>
            <a:ext cx="11094415" cy="768096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67528"/>
            <a:ext cx="457200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64653"/>
                </a:solidFill>
                <a:latin typeface="Calibri"/>
              </a:rPr>
              <a:t>Usar o alerta de metas antes da prova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67528"/>
            <a:ext cx="521208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D33"/>
                </a:solidFill>
                <a:latin typeface="Calibri"/>
              </a:rPr>
              <a:t>Agir no mesmo ano e retreinar o modelo a cada novo resultado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E76F51"/>
                </a:solidFill>
                <a:latin typeface="Calibri"/>
              </a:rPr>
              <a:t>MENSAGEM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Os modelos dizem onde olhar primeiro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6576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2F5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886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76F51"/>
                </a:solidFill>
                <a:latin typeface="Calibri"/>
              </a:rPr>
              <a:t>Retreinar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com os resultados municipais de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36576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2F5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19" y="3886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76F51"/>
                </a:solidFill>
                <a:latin typeface="Calibri"/>
              </a:rPr>
              <a:t>Validar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19" y="43891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as referências com as secretarias antes de difundi-las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8" y="365760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2F5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8" y="38862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E76F51"/>
                </a:solidFill>
                <a:latin typeface="Calibri"/>
              </a:rPr>
              <a:t>Acompanhar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8" y="43891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o efeito das ações nas redes priorizadas a cada 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CFE3E0"/>
                </a:solidFill>
                <a:latin typeface="Calibr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Alfabetização no Brasil: onde agir e com qual alavanca</dc:title>
  <dc:subject/>
  <dc:creator>eliaslopesjr1-maker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