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Brasil: % de crianças alfabetizadas x meta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ln w="31750">
              <a:solidFill>
                <a:srgbClr val="E76F51"/>
              </a:solidFill>
            </a:ln>
          </c:spPr>
          <c:marker>
            <c:spPr>
              <a:solidFill>
                <a:srgbClr val="E76F51"/>
              </a:solidFill>
              <a:ln>
                <a:solidFill>
                  <a:srgbClr val="E76F51"/>
                </a:solidFill>
              </a:ln>
            </c:spPr>
          </c:marker>
          <c:dLbls>
            <c:numFmt formatCode="0.0&quot;%&quot;" sourceLinked="0"/>
            <c:txPr>
              <a:bodyPr/>
              <a:lstStyle/>
              <a:p>
                <a:pPr>
                  <a:defRPr sz="1200" b="1">
                    <a:solidFill>
                      <a:srgbClr val="E76F51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55.9</c:v>
                </c:pt>
                <c:pt idx="1">
                  <c:v>59.2</c:v>
                </c:pt>
                <c:pt idx="2">
                  <c:v>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nacional</c:v>
                </c:pt>
              </c:strCache>
            </c:strRef>
          </c:tx>
          <c:spPr>
            <a:ln w="19050">
              <a:solidFill>
                <a:srgbClr val="5B6B72"/>
              </a:solidFill>
            </a:ln>
          </c:spPr>
          <c:marker>
            <c:spPr>
              <a:solidFill>
                <a:srgbClr val="5B6B72"/>
              </a:solidFill>
              <a:ln>
                <a:solidFill>
                  <a:srgbClr val="5B6B72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59.9</c:v>
                </c:pt>
                <c:pt idx="2">
                  <c:v>63.8</c:v>
                </c:pt>
                <c:pt idx="3">
                  <c:v>67.5</c:v>
                </c:pt>
                <c:pt idx="4">
                  <c:v>71.0</c:v>
                </c:pt>
                <c:pt idx="5">
                  <c:v>74.2</c:v>
                </c:pt>
                <c:pt idx="6">
                  <c:v>77.2</c:v>
                </c:pt>
                <c:pt idx="7">
                  <c:v>80.0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5.0"/>
          <c:min val="40.0"/>
        </c:scaling>
        <c:delete val="0"/>
        <c:axPos val="l"/>
        <c:majorGridlines>
          <c:spPr>
            <a:ln>
              <a:solidFill>
                <a:srgbClr val="DDE3E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Peso de cada tema na previsão do modelo (% do total)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264653"/>
              </a:solidFill>
            </c:spPr>
          </c:dPt>
          <c:dPt>
            <c:idx val="1"/>
            <c:invertIfNegative val="0"/>
            <c:spPr>
              <a:solidFill>
                <a:srgbClr val="264653"/>
              </a:solidFill>
            </c:spPr>
          </c:dPt>
          <c:dPt>
            <c:idx val="2"/>
            <c:invertIfNegative val="0"/>
            <c:spPr>
              <a:solidFill>
                <a:srgbClr val="264653"/>
              </a:solidFill>
            </c:spPr>
          </c:dPt>
          <c:dPt>
            <c:idx val="3"/>
            <c:invertIfNegative val="0"/>
            <c:spPr>
              <a:solidFill>
                <a:srgbClr val="264653"/>
              </a:solidFill>
            </c:spPr>
          </c:dPt>
          <c:dPt>
            <c:idx val="4"/>
            <c:invertIfNegative val="0"/>
            <c:spPr>
              <a:solidFill>
                <a:srgbClr val="264653"/>
              </a:solidFill>
            </c:spPr>
          </c:dPt>
          <c:dPt>
            <c:idx val="5"/>
            <c:invertIfNegative val="0"/>
            <c:spPr>
              <a:solidFill>
                <a:srgbClr val="E76F51"/>
              </a:solidFill>
            </c:spPr>
          </c:dPt>
          <c:dPt>
            <c:idx val="6"/>
            <c:invertIfNegative val="0"/>
            <c:spPr>
              <a:solidFill>
                <a:srgbClr val="E76F51"/>
              </a:solidFill>
            </c:spPr>
          </c:dPt>
          <c:dLbls>
            <c:numFmt formatCode="0&quot;%&quot;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Docentes e equipe</c:v>
                </c:pt>
                <c:pt idx="1">
                  <c:v>Infraestrutura escolar</c:v>
                </c:pt>
                <c:pt idx="2">
                  <c:v>Ruralidade e diversidade</c:v>
                </c:pt>
                <c:pt idx="3">
                  <c:v>Porte da rede e do município</c:v>
                </c:pt>
                <c:pt idx="4">
                  <c:v>Nível socioeconômico</c:v>
                </c:pt>
                <c:pt idx="5">
                  <c:v>Estado (UF) e região</c:v>
                </c:pt>
                <c:pt idx="6">
                  <c:v>Trajetória escolar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3.7</c:v>
                </c:pt>
                <c:pt idx="1">
                  <c:v>4.8</c:v>
                </c:pt>
                <c:pt idx="2">
                  <c:v>5.9</c:v>
                </c:pt>
                <c:pt idx="3">
                  <c:v>6.0</c:v>
                </c:pt>
                <c:pt idx="4">
                  <c:v>19.0</c:v>
                </c:pt>
                <c:pt idx="5">
                  <c:v>29.5</c:v>
                </c:pt>
                <c:pt idx="6">
                  <c:v>30.8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O que explica os 95% (peso relativo, Ceará = 100)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76F51"/>
              </a:solidFill>
            </c:spPr>
          </c:dPt>
          <c:dPt>
            <c:idx val="1"/>
            <c:invertIfNegative val="0"/>
            <c:spPr>
              <a:solidFill>
                <a:srgbClr val="5B6B72"/>
              </a:solidFill>
            </c:spPr>
          </c:dPt>
          <c:dPt>
            <c:idx val="2"/>
            <c:invertIfNegative val="0"/>
            <c:spPr>
              <a:solidFill>
                <a:srgbClr val="2A9D8F"/>
              </a:solidFill>
            </c:spPr>
          </c:dPt>
          <c:dPt>
            <c:idx val="3"/>
            <c:invertIfNegative val="0"/>
            <c:spPr>
              <a:solidFill>
                <a:srgbClr val="2A9D8F"/>
              </a:solidFill>
            </c:spPr>
          </c:dPt>
          <c:dPt>
            <c:idx val="4"/>
            <c:invertIfNegative val="0"/>
            <c:spPr>
              <a:solidFill>
                <a:srgbClr val="2A9D8F"/>
              </a:solidFill>
            </c:spPr>
          </c:dPt>
          <c:dPt>
            <c:idx val="5"/>
            <c:invertIfNegative val="0"/>
            <c:spPr>
              <a:solidFill>
                <a:srgbClr val="2A9D8F"/>
              </a:solidFill>
            </c:spPr>
          </c:dPt>
          <c:dPt>
            <c:idx val="6"/>
            <c:invertIfNegative val="0"/>
            <c:spPr>
              <a:solidFill>
                <a:srgbClr val="2A9D8F"/>
              </a:solidFill>
            </c:spPr>
          </c:dPt>
          <c:dPt>
            <c:idx val="7"/>
            <c:invertIfNegative val="0"/>
            <c:spPr>
              <a:solidFill>
                <a:srgbClr val="2A9D8F"/>
              </a:solidFill>
            </c:spPr>
          </c:dPt>
          <c:dLbls>
            <c:numFmt formatCode="+0;-0" sourceLinked="0"/>
            <c:txPr>
              <a:bodyPr/>
              <a:lstStyle/>
              <a:p>
                <a:pPr>
                  <a:defRPr sz="12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Nível socioeconômico (INSE 4,4)</c:v>
                </c:pt>
                <c:pt idx="1">
                  <c:v>Demais fatores</c:v>
                </c:pt>
                <c:pt idx="2">
                  <c:v>Aprovação de 100% no 2º ano</c:v>
                </c:pt>
                <c:pt idx="3">
                  <c:v>Jornada de 7 horas/dia</c:v>
                </c:pt>
                <c:pt idx="4">
                  <c:v>78% em tempo integral</c:v>
                </c:pt>
                <c:pt idx="5">
                  <c:v>Abandono zero</c:v>
                </c:pt>
                <c:pt idx="6">
                  <c:v>Distorção idade-série de 1,9%</c:v>
                </c:pt>
                <c:pt idx="7">
                  <c:v>Estar no Ceará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-5</c:v>
                </c:pt>
                <c:pt idx="1">
                  <c:v>28</c:v>
                </c:pt>
                <c:pt idx="2">
                  <c:v>5</c:v>
                </c:pt>
                <c:pt idx="3">
                  <c:v>5</c:v>
                </c:pt>
                <c:pt idx="4">
                  <c:v>7</c:v>
                </c:pt>
                <c:pt idx="5">
                  <c:v>22</c:v>
                </c:pt>
                <c:pt idx="6">
                  <c:v>28</c:v>
                </c:pt>
                <c:pt idx="7">
                  <c:v>100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>
          <c:max val="125.0"/>
          <c:min val="-15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Influência de cada variável na previsão (estado = 100)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264653"/>
              </a:solidFill>
            </c:spPr>
          </c:dPt>
          <c:dPt>
            <c:idx val="1"/>
            <c:invertIfNegative val="0"/>
            <c:spPr>
              <a:solidFill>
                <a:srgbClr val="264653"/>
              </a:solidFill>
            </c:spPr>
          </c:dPt>
          <c:dPt>
            <c:idx val="2"/>
            <c:invertIfNegative val="0"/>
            <c:spPr>
              <a:solidFill>
                <a:srgbClr val="264653"/>
              </a:solidFill>
            </c:spPr>
          </c:dPt>
          <c:dPt>
            <c:idx val="3"/>
            <c:invertIfNegative val="0"/>
            <c:spPr>
              <a:solidFill>
                <a:srgbClr val="264653"/>
              </a:solidFill>
            </c:spPr>
          </c:dPt>
          <c:dPt>
            <c:idx val="4"/>
            <c:invertIfNegative val="0"/>
            <c:spPr>
              <a:solidFill>
                <a:srgbClr val="2A9D8F"/>
              </a:solidFill>
            </c:spPr>
          </c:dPt>
          <c:dPt>
            <c:idx val="5"/>
            <c:invertIfNegative val="0"/>
            <c:spPr>
              <a:solidFill>
                <a:srgbClr val="E76F51"/>
              </a:solidFill>
            </c:spPr>
          </c:dPt>
          <c:dPt>
            <c:idx val="6"/>
            <c:invertIfNegative val="0"/>
            <c:spPr>
              <a:solidFill>
                <a:srgbClr val="E76F51"/>
              </a:solidFill>
            </c:spPr>
          </c:dPt>
          <c:dPt>
            <c:idx val="7"/>
            <c:invertIfNegative val="0"/>
            <c:spPr>
              <a:solidFill>
                <a:srgbClr val="E76F51"/>
              </a:solidFill>
            </c:spPr>
          </c:dPt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Tamanho médio das escolas</c:v>
                </c:pt>
                <c:pt idx="1">
                  <c:v>População rural (2010)</c:v>
                </c:pt>
                <c:pt idx="2">
                  <c:v>% alunos com INSE baixo</c:v>
                </c:pt>
                <c:pt idx="3">
                  <c:v>Região</c:v>
                </c:pt>
                <c:pt idx="4">
                  <c:v>INSE médio da rede</c:v>
                </c:pt>
                <c:pt idx="5">
                  <c:v>Abandono nos anos iniciais</c:v>
                </c:pt>
                <c:pt idx="6">
                  <c:v>Distorção idade-série</c:v>
                </c:pt>
                <c:pt idx="7">
                  <c:v>Estado (UF)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9</c:v>
                </c:pt>
                <c:pt idx="3">
                  <c:v>13</c:v>
                </c:pt>
                <c:pt idx="4">
                  <c:v>20</c:v>
                </c:pt>
                <c:pt idx="5">
                  <c:v>32</c:v>
                </c:pt>
                <c:pt idx="6">
                  <c:v>36</c:v>
                </c:pt>
                <c:pt idx="7">
                  <c:v>100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>
          <c:max val="12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Efeito do estado além do contexto (Ceará = 100)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76F51"/>
              </a:solidFill>
            </c:spPr>
          </c:dPt>
          <c:dPt>
            <c:idx val="1"/>
            <c:invertIfNegative val="0"/>
            <c:spPr>
              <a:solidFill>
                <a:srgbClr val="E76F51"/>
              </a:solidFill>
            </c:spPr>
          </c:dPt>
          <c:dPt>
            <c:idx val="2"/>
            <c:invertIfNegative val="0"/>
            <c:spPr>
              <a:solidFill>
                <a:srgbClr val="E76F51"/>
              </a:solidFill>
            </c:spPr>
          </c:dPt>
          <c:dPt>
            <c:idx val="3"/>
            <c:invertIfNegative val="0"/>
            <c:spPr>
              <a:solidFill>
                <a:srgbClr val="E76F51"/>
              </a:solidFill>
            </c:spPr>
          </c:dPt>
          <c:dPt>
            <c:idx val="4"/>
            <c:invertIfNegative val="0"/>
            <c:spPr>
              <a:solidFill>
                <a:srgbClr val="E76F51"/>
              </a:solidFill>
            </c:spPr>
          </c:dPt>
          <c:dPt>
            <c:idx val="5"/>
            <c:invertIfNegative val="0"/>
            <c:spPr>
              <a:solidFill>
                <a:srgbClr val="E76F51"/>
              </a:solidFill>
            </c:spPr>
          </c:dPt>
          <c:dPt>
            <c:idx val="6"/>
            <c:invertIfNegative val="0"/>
            <c:spPr>
              <a:solidFill>
                <a:srgbClr val="E76F51"/>
              </a:solidFill>
            </c:spPr>
          </c:dPt>
          <c:dPt>
            <c:idx val="7"/>
            <c:invertIfNegative val="0"/>
            <c:spPr>
              <a:solidFill>
                <a:srgbClr val="E76F51"/>
              </a:solidFill>
            </c:spPr>
          </c:dPt>
          <c:dPt>
            <c:idx val="8"/>
            <c:invertIfNegative val="0"/>
            <c:spPr>
              <a:solidFill>
                <a:srgbClr val="E76F51"/>
              </a:solidFill>
            </c:spPr>
          </c:dPt>
          <c:dPt>
            <c:idx val="9"/>
            <c:invertIfNegative val="0"/>
            <c:spPr>
              <a:solidFill>
                <a:srgbClr val="E76F51"/>
              </a:solidFill>
            </c:spPr>
          </c:dPt>
          <c:dPt>
            <c:idx val="10"/>
            <c:invertIfNegative val="0"/>
            <c:spPr>
              <a:solidFill>
                <a:srgbClr val="E76F51"/>
              </a:solidFill>
            </c:spPr>
          </c:dPt>
          <c:dPt>
            <c:idx val="11"/>
            <c:invertIfNegative val="0"/>
            <c:spPr>
              <a:solidFill>
                <a:srgbClr val="E76F51"/>
              </a:solidFill>
            </c:spPr>
          </c:dPt>
          <c:dPt>
            <c:idx val="12"/>
            <c:invertIfNegative val="0"/>
            <c:spPr>
              <a:solidFill>
                <a:srgbClr val="E76F51"/>
              </a:solidFill>
            </c:spPr>
          </c:dPt>
          <c:dPt>
            <c:idx val="13"/>
            <c:invertIfNegative val="0"/>
            <c:spPr>
              <a:solidFill>
                <a:srgbClr val="E76F51"/>
              </a:solidFill>
            </c:spPr>
          </c:dPt>
          <c:dPt>
            <c:idx val="14"/>
            <c:invertIfNegative val="0"/>
            <c:spPr>
              <a:solidFill>
                <a:srgbClr val="E76F51"/>
              </a:solidFill>
            </c:spPr>
          </c:dPt>
          <c:dPt>
            <c:idx val="15"/>
            <c:invertIfNegative val="0"/>
            <c:spPr>
              <a:solidFill>
                <a:srgbClr val="E76F51"/>
              </a:solidFill>
            </c:spPr>
          </c:dPt>
          <c:dPt>
            <c:idx val="16"/>
            <c:invertIfNegative val="0"/>
            <c:spPr>
              <a:solidFill>
                <a:srgbClr val="E76F51"/>
              </a:solidFill>
            </c:spPr>
          </c:dPt>
          <c:dPt>
            <c:idx val="17"/>
            <c:invertIfNegative val="0"/>
            <c:spPr>
              <a:solidFill>
                <a:srgbClr val="E76F51"/>
              </a:solidFill>
            </c:spPr>
          </c:dPt>
          <c:dPt>
            <c:idx val="18"/>
            <c:invertIfNegative val="0"/>
            <c:spPr>
              <a:solidFill>
                <a:srgbClr val="E76F51"/>
              </a:solidFill>
            </c:spPr>
          </c:dPt>
          <c:dPt>
            <c:idx val="19"/>
            <c:invertIfNegative val="0"/>
            <c:spPr>
              <a:solidFill>
                <a:srgbClr val="2A9D8F"/>
              </a:solidFill>
            </c:spPr>
          </c:dPt>
          <c:dPt>
            <c:idx val="20"/>
            <c:invertIfNegative val="0"/>
            <c:spPr>
              <a:solidFill>
                <a:srgbClr val="2A9D8F"/>
              </a:solidFill>
            </c:spPr>
          </c:dPt>
          <c:dPt>
            <c:idx val="21"/>
            <c:invertIfNegative val="0"/>
            <c:spPr>
              <a:solidFill>
                <a:srgbClr val="2A9D8F"/>
              </a:solidFill>
            </c:spPr>
          </c:dPt>
          <c:dPt>
            <c:idx val="22"/>
            <c:invertIfNegative val="0"/>
            <c:spPr>
              <a:solidFill>
                <a:srgbClr val="2A9D8F"/>
              </a:solidFill>
            </c:spPr>
          </c:dPt>
          <c:dPt>
            <c:idx val="23"/>
            <c:invertIfNegative val="0"/>
            <c:spPr>
              <a:solidFill>
                <a:srgbClr val="2A9D8F"/>
              </a:solidFill>
            </c:spPr>
          </c:dPt>
          <c:dPt>
            <c:idx val="24"/>
            <c:invertIfNegative val="0"/>
            <c:spPr>
              <a:solidFill>
                <a:srgbClr val="2A9D8F"/>
              </a:solidFill>
            </c:spPr>
          </c:dPt>
          <c:dPt>
            <c:idx val="25"/>
            <c:invertIfNegative val="0"/>
            <c:spPr>
              <a:solidFill>
                <a:srgbClr val="2A9D8F"/>
              </a:solidFill>
            </c:spPr>
          </c:dPt>
          <c:dLbls>
            <c:numFmt formatCode="+0;-0" sourceLinked="0"/>
            <c:txPr>
              <a:bodyPr/>
              <a:lstStyle/>
              <a:p>
                <a:pPr>
                  <a:defRPr sz="10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SE</c:v>
                </c:pt>
                <c:pt idx="1">
                  <c:v>RN</c:v>
                </c:pt>
                <c:pt idx="2">
                  <c:v>TO</c:v>
                </c:pt>
                <c:pt idx="3">
                  <c:v>BA</c:v>
                </c:pt>
                <c:pt idx="4">
                  <c:v>SC</c:v>
                </c:pt>
                <c:pt idx="5">
                  <c:v>AL</c:v>
                </c:pt>
                <c:pt idx="6">
                  <c:v>MT</c:v>
                </c:pt>
                <c:pt idx="7">
                  <c:v>MS</c:v>
                </c:pt>
                <c:pt idx="8">
                  <c:v>MG</c:v>
                </c:pt>
                <c:pt idx="9">
                  <c:v>SP</c:v>
                </c:pt>
                <c:pt idx="10">
                  <c:v>DF</c:v>
                </c:pt>
                <c:pt idx="11">
                  <c:v>AP</c:v>
                </c:pt>
                <c:pt idx="12">
                  <c:v>RS</c:v>
                </c:pt>
                <c:pt idx="13">
                  <c:v>PB</c:v>
                </c:pt>
                <c:pt idx="14">
                  <c:v>RJ</c:v>
                </c:pt>
                <c:pt idx="15">
                  <c:v>PI</c:v>
                </c:pt>
                <c:pt idx="16">
                  <c:v>AM</c:v>
                </c:pt>
                <c:pt idx="17">
                  <c:v>AC</c:v>
                </c:pt>
                <c:pt idx="18">
                  <c:v>PA</c:v>
                </c:pt>
                <c:pt idx="19">
                  <c:v>RO</c:v>
                </c:pt>
                <c:pt idx="20">
                  <c:v>MA</c:v>
                </c:pt>
                <c:pt idx="21">
                  <c:v>PE</c:v>
                </c:pt>
                <c:pt idx="22">
                  <c:v>PR</c:v>
                </c:pt>
                <c:pt idx="23">
                  <c:v>ES</c:v>
                </c:pt>
                <c:pt idx="24">
                  <c:v>GO</c:v>
                </c:pt>
                <c:pt idx="25">
                  <c:v>CE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-65</c:v>
                </c:pt>
                <c:pt idx="1">
                  <c:v>-48</c:v>
                </c:pt>
                <c:pt idx="2">
                  <c:v>-46</c:v>
                </c:pt>
                <c:pt idx="3">
                  <c:v>-38</c:v>
                </c:pt>
                <c:pt idx="4">
                  <c:v>-23</c:v>
                </c:pt>
                <c:pt idx="5">
                  <c:v>-22</c:v>
                </c:pt>
                <c:pt idx="6">
                  <c:v>-18</c:v>
                </c:pt>
                <c:pt idx="7">
                  <c:v>-17</c:v>
                </c:pt>
                <c:pt idx="8">
                  <c:v>-12</c:v>
                </c:pt>
                <c:pt idx="9">
                  <c:v>-8</c:v>
                </c:pt>
                <c:pt idx="10">
                  <c:v>-7</c:v>
                </c:pt>
                <c:pt idx="11">
                  <c:v>-7</c:v>
                </c:pt>
                <c:pt idx="12">
                  <c:v>-6</c:v>
                </c:pt>
                <c:pt idx="13">
                  <c:v>-6</c:v>
                </c:pt>
                <c:pt idx="14">
                  <c:v>-5</c:v>
                </c:pt>
                <c:pt idx="15">
                  <c:v>-4</c:v>
                </c:pt>
                <c:pt idx="16">
                  <c:v>-3</c:v>
                </c:pt>
                <c:pt idx="17">
                  <c:v>-3</c:v>
                </c:pt>
                <c:pt idx="18">
                  <c:v>-3</c:v>
                </c:pt>
                <c:pt idx="19">
                  <c:v>8</c:v>
                </c:pt>
                <c:pt idx="20">
                  <c:v>10</c:v>
                </c:pt>
                <c:pt idx="21">
                  <c:v>10</c:v>
                </c:pt>
                <c:pt idx="22">
                  <c:v>16</c:v>
                </c:pt>
                <c:pt idx="23">
                  <c:v>20</c:v>
                </c:pt>
                <c:pt idx="24">
                  <c:v>21</c:v>
                </c:pt>
                <c:pt idx="25">
                  <c:v>100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>
          <c:max val="120.0"/>
          <c:min val="-8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% de alfabetizados por grupo de contexto (2024)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76F51"/>
              </a:solidFill>
            </c:spPr>
          </c:dPt>
          <c:dPt>
            <c:idx val="1"/>
            <c:invertIfNegative val="0"/>
            <c:spPr>
              <a:solidFill>
                <a:srgbClr val="F4A261"/>
              </a:solidFill>
            </c:spPr>
          </c:dPt>
          <c:dPt>
            <c:idx val="2"/>
            <c:invertIfNegative val="0"/>
            <c:spPr>
              <a:solidFill>
                <a:srgbClr val="E9C46A"/>
              </a:solidFill>
            </c:spPr>
          </c:dPt>
          <c:dPt>
            <c:idx val="3"/>
            <c:invertIfNegative val="0"/>
            <c:spPr>
              <a:solidFill>
                <a:srgbClr val="2A9D8F"/>
              </a:solidFill>
            </c:spPr>
          </c:dPt>
          <c:dPt>
            <c:idx val="4"/>
            <c:invertIfNegative val="0"/>
            <c:spPr>
              <a:solidFill>
                <a:srgbClr val="264653"/>
              </a:solidFill>
            </c:spPr>
          </c:dPt>
          <c:dLbls>
            <c:numFmt formatCode="0&quot;%&quot;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Fluxo escolar crítico</c:v>
                </c:pt>
                <c:pt idx="1">
                  <c:v>Áreas diferenciadas e rurais</c:v>
                </c:pt>
                <c:pt idx="2">
                  <c:v>Urbano de maior porte</c:v>
                </c:pt>
                <c:pt idx="3">
                  <c:v>Vulnerável com fluxo regular</c:v>
                </c:pt>
                <c:pt idx="4">
                  <c:v>Pequenos desenvolvidos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41.9</c:v>
                </c:pt>
                <c:pt idx="1">
                  <c:v>50.0</c:v>
                </c:pt>
                <c:pt idx="2">
                  <c:v>59.3</c:v>
                </c:pt>
                <c:pt idx="3">
                  <c:v>62.9</c:v>
                </c:pt>
                <c:pt idx="4">
                  <c:v>70.5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>
          <c:max val="85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Variação 2023-2024 acima ou abaixo do Brasil (pontos)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76F51"/>
              </a:solidFill>
            </c:spPr>
          </c:dPt>
          <c:dPt>
            <c:idx val="1"/>
            <c:invertIfNegative val="0"/>
            <c:spPr>
              <a:solidFill>
                <a:srgbClr val="264653"/>
              </a:solidFill>
            </c:spPr>
          </c:dPt>
          <c:dPt>
            <c:idx val="2"/>
            <c:invertIfNegative val="0"/>
            <c:spPr>
              <a:solidFill>
                <a:srgbClr val="264653"/>
              </a:solidFill>
            </c:spPr>
          </c:dPt>
          <c:dPt>
            <c:idx val="3"/>
            <c:invertIfNegative val="0"/>
            <c:spPr>
              <a:solidFill>
                <a:srgbClr val="264653"/>
              </a:solidFill>
            </c:spPr>
          </c:dPt>
          <c:dPt>
            <c:idx val="4"/>
            <c:invertIfNegative val="0"/>
            <c:spPr>
              <a:solidFill>
                <a:srgbClr val="264653"/>
              </a:solidFill>
            </c:spPr>
          </c:dPt>
          <c:dPt>
            <c:idx val="5"/>
            <c:invertIfNegative val="0"/>
            <c:spPr>
              <a:solidFill>
                <a:srgbClr val="264653"/>
              </a:solidFill>
            </c:spPr>
          </c:dPt>
          <c:dPt>
            <c:idx val="6"/>
            <c:invertIfNegative val="0"/>
            <c:spPr>
              <a:solidFill>
                <a:srgbClr val="264653"/>
              </a:solidFill>
            </c:spPr>
          </c:dPt>
          <c:dPt>
            <c:idx val="7"/>
            <c:invertIfNegative val="0"/>
            <c:spPr>
              <a:solidFill>
                <a:srgbClr val="264653"/>
              </a:solidFill>
            </c:spPr>
          </c:dPt>
          <c:dPt>
            <c:idx val="8"/>
            <c:invertIfNegative val="0"/>
            <c:spPr>
              <a:solidFill>
                <a:srgbClr val="264653"/>
              </a:solidFill>
            </c:spPr>
          </c:dPt>
          <c:dPt>
            <c:idx val="9"/>
            <c:invertIfNegative val="0"/>
            <c:spPr>
              <a:solidFill>
                <a:srgbClr val="264653"/>
              </a:solidFill>
            </c:spPr>
          </c:dPt>
          <c:dPt>
            <c:idx val="10"/>
            <c:invertIfNegative val="0"/>
            <c:spPr>
              <a:solidFill>
                <a:srgbClr val="264653"/>
              </a:solidFill>
            </c:spPr>
          </c:dPt>
          <c:dPt>
            <c:idx val="11"/>
            <c:invertIfNegative val="0"/>
            <c:spPr>
              <a:solidFill>
                <a:srgbClr val="264653"/>
              </a:solidFill>
            </c:spPr>
          </c:dPt>
          <c:dPt>
            <c:idx val="12"/>
            <c:invertIfNegative val="0"/>
            <c:spPr>
              <a:solidFill>
                <a:srgbClr val="264653"/>
              </a:solidFill>
            </c:spPr>
          </c:dPt>
          <c:dPt>
            <c:idx val="13"/>
            <c:invertIfNegative val="0"/>
            <c:spPr>
              <a:solidFill>
                <a:srgbClr val="264653"/>
              </a:solidFill>
            </c:spPr>
          </c:dPt>
          <c:dPt>
            <c:idx val="14"/>
            <c:invertIfNegative val="0"/>
            <c:spPr>
              <a:solidFill>
                <a:srgbClr val="264653"/>
              </a:solidFill>
            </c:spPr>
          </c:dPt>
          <c:dPt>
            <c:idx val="15"/>
            <c:invertIfNegative val="0"/>
            <c:spPr>
              <a:solidFill>
                <a:srgbClr val="264653"/>
              </a:solidFill>
            </c:spPr>
          </c:dPt>
          <c:dPt>
            <c:idx val="16"/>
            <c:invertIfNegative val="0"/>
            <c:spPr>
              <a:solidFill>
                <a:srgbClr val="264653"/>
              </a:solidFill>
            </c:spPr>
          </c:dPt>
          <c:dPt>
            <c:idx val="17"/>
            <c:invertIfNegative val="0"/>
            <c:spPr>
              <a:solidFill>
                <a:srgbClr val="264653"/>
              </a:solidFill>
            </c:spPr>
          </c:dPt>
          <c:dPt>
            <c:idx val="18"/>
            <c:invertIfNegative val="0"/>
            <c:spPr>
              <a:solidFill>
                <a:srgbClr val="264653"/>
              </a:solidFill>
            </c:spPr>
          </c:dPt>
          <c:dPt>
            <c:idx val="19"/>
            <c:invertIfNegative val="0"/>
            <c:spPr>
              <a:solidFill>
                <a:srgbClr val="264653"/>
              </a:solidFill>
            </c:spPr>
          </c:dPt>
          <c:dPt>
            <c:idx val="20"/>
            <c:invertIfNegative val="0"/>
            <c:spPr>
              <a:solidFill>
                <a:srgbClr val="264653"/>
              </a:solidFill>
            </c:spPr>
          </c:dPt>
          <c:dPt>
            <c:idx val="21"/>
            <c:invertIfNegative val="0"/>
            <c:spPr>
              <a:solidFill>
                <a:srgbClr val="264653"/>
              </a:solidFill>
            </c:spPr>
          </c:dPt>
          <c:dPt>
            <c:idx val="22"/>
            <c:invertIfNegative val="0"/>
            <c:spPr>
              <a:solidFill>
                <a:srgbClr val="E76F51"/>
              </a:solidFill>
            </c:spPr>
          </c:dPt>
          <c:dLbls>
            <c:numFmt formatCode="+0;-0;0" sourceLinked="0"/>
            <c:txPr>
              <a:bodyPr/>
              <a:lstStyle/>
              <a:p>
                <a:pPr>
                  <a:defRPr sz="10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RS</c:v>
                </c:pt>
                <c:pt idx="1">
                  <c:v>RO</c:v>
                </c:pt>
                <c:pt idx="2">
                  <c:v>PR</c:v>
                </c:pt>
                <c:pt idx="3">
                  <c:v>AM</c:v>
                </c:pt>
                <c:pt idx="4">
                  <c:v>BA</c:v>
                </c:pt>
                <c:pt idx="5">
                  <c:v>PA</c:v>
                </c:pt>
                <c:pt idx="6">
                  <c:v>CE</c:v>
                </c:pt>
                <c:pt idx="7">
                  <c:v>SC</c:v>
                </c:pt>
                <c:pt idx="8">
                  <c:v>PE</c:v>
                </c:pt>
                <c:pt idx="9">
                  <c:v>RN</c:v>
                </c:pt>
                <c:pt idx="10">
                  <c:v>MA</c:v>
                </c:pt>
                <c:pt idx="11">
                  <c:v>RJ</c:v>
                </c:pt>
                <c:pt idx="12">
                  <c:v>ES</c:v>
                </c:pt>
                <c:pt idx="13">
                  <c:v>PB</c:v>
                </c:pt>
                <c:pt idx="14">
                  <c:v>AL</c:v>
                </c:pt>
                <c:pt idx="15">
                  <c:v>MT</c:v>
                </c:pt>
                <c:pt idx="16">
                  <c:v>GO</c:v>
                </c:pt>
                <c:pt idx="17">
                  <c:v>TO</c:v>
                </c:pt>
                <c:pt idx="18">
                  <c:v>AP</c:v>
                </c:pt>
                <c:pt idx="19">
                  <c:v>PI</c:v>
                </c:pt>
                <c:pt idx="20">
                  <c:v>SE</c:v>
                </c:pt>
                <c:pt idx="21">
                  <c:v>MS</c:v>
                </c:pt>
                <c:pt idx="22">
                  <c:v>MG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-22</c:v>
                </c:pt>
                <c:pt idx="1">
                  <c:v>-5</c:v>
                </c:pt>
                <c:pt idx="2">
                  <c:v>-5</c:v>
                </c:pt>
                <c:pt idx="3">
                  <c:v>-5</c:v>
                </c:pt>
                <c:pt idx="4">
                  <c:v>-3</c:v>
                </c:pt>
                <c:pt idx="5">
                  <c:v>-2</c:v>
                </c:pt>
                <c:pt idx="6">
                  <c:v>-2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3</c:v>
                </c:pt>
                <c:pt idx="15">
                  <c:v>3</c:v>
                </c:pt>
                <c:pt idx="16">
                  <c:v>4</c:v>
                </c:pt>
                <c:pt idx="17">
                  <c:v>4</c:v>
                </c:pt>
                <c:pt idx="18">
                  <c:v>5</c:v>
                </c:pt>
                <c:pt idx="19">
                  <c:v>5</c:v>
                </c:pt>
                <c:pt idx="20">
                  <c:v>5</c:v>
                </c:pt>
                <c:pt idx="21">
                  <c:v>6</c:v>
                </c:pt>
                <c:pt idx="22">
                  <c:v>10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  <c:tickLblSkip val="1"/>
      </c:catAx>
      <c:valAx>
        <c:axId val="-2113994440"/>
        <c:scaling>
          <c:max val="15.0"/>
          <c:min val="-27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dia a todos. Vou responder cinco perguntas que ajudam a decidir onde agir para chegar a 80% de crianças alfabetizadas até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Brasil avançou de 56% em 2023 para 66% em 2025, mas ainda faltam 14 pontos até 2030. Estas são as cinco perguntas que vamos responder com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média esconde a desigualdade: em 2024, 36% das crianças alfabetizadas na Bahia e 85% no Ceará.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Cruzamos os dados de 3,3 milhões de crianças com cinco bases públicas e construímos dois modelos: o risco de cada criança e a chance de cada rede bater a meta. Testamos com dados que o modelo nunca viu.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pergunta: o que mais pesa? A trajetória escolar, com 31%, e a política estadual, com 30%. O nível socioeconômico vem só em terceiro. As duas alavancas mais fortes estão ao alcance da gestão.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exemplo, o caso mais extremo: um município cearense com 76% das crianças na pobreza tem 95% de chance prevista, porque a rede tem abandono zero, quase nenhuma distorção e tempo integral.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pergunta: as variáveis mais influentes são o estado, a distorção idade-série, o abandono e o nível socioeconômico. Dois testes diferentes chegam ao mesmo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Descontado o contexto, o Ceará entrega muito mais do que sua renda prevê. E há limiares: acima de 8% de distorção ou de meio por cento de abandono, a chance cai.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Terceira pergunta: agrupamos os municípios em cinco perfis de contexto. Dois grupos têm a mesma pobreza, mas um alfabetiza 63% e o outro 42%. A diferença de 21 pontos está no fluxo escolar.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em todo perfil há municípios que alfabetizam 30 a 50 pontos acima do esperado, como Tartarugalzinho, no Amapá, e Barreirinhas, no Maranhão. São referências para os pares do mesmo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Quarta pergunta: onde está o risco? Por gravidade, 84% das redes da Bahia estão no grupo de maior risco. Por volume, só São Paulo tem 21 mil crianças não alfabetizadas, seguida de Rio, Manaus e Salvador.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gravidade e volume se encontram, há 37 redes grandes e de alto risco, com 58 mil crianças não alfabetizadas: Salvador, Maceió e a Baixada Fluminense. É por onde começar.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Quinta pergunta: o modelo aprende como as redes se saíram de um ano para o outro e projeta a chance de bater a meta de 2025. Cerca de 1.400 redes têm menos de 40%. A queda do Rio Grande do Sul nas enchentes, fora da curva, não vira tendência.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Conferimos com 2025: o modelo acertou a direção, mas foi conservador, porque 2025 teve um avanço amplo. A Bahia deu o maior salto do país e merece ser estudada. O modelo serve para priorizar.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Nossas recomendações: priorizar recursos com o ranking de risco, atacar o fluxo escolar, expandir o regime de colaboração no modelo do Ceará, conectar municípios às suas referências e usar o alerta de metas antes da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modelos não substituem o olhar das secretarias: eles dizem onde olhar primeiro.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4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TECH CHALLENGE ·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7223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Alfabetização no Brasil: cinco perguntas para decidir onde agir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3E0"/>
                </a:solidFill>
                <a:latin typeface="Calibri"/>
              </a:rPr>
              <a:t>Predição e inteligência analítica a partir do Indicador Criança Alfabetizada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2578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Elias Lopes Silva Junior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FE3E0"/>
                </a:solidFill>
                <a:latin typeface="Calibri"/>
              </a:rPr>
              <a:t>Reunião executiva com gestores públicos de educação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0" b="1" i="0">
                <a:solidFill>
                  <a:srgbClr val="E76F51"/>
                </a:solidFill>
                <a:latin typeface="Cambria"/>
              </a:rP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38328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das crianças alfabetizadas ao fim do 2º ano até 2030: a meta nacional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ONDE ESTAMOS E O QUE VAMOS RESPONDER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Avançamos, mas ainda faltam 14 pontos até a meta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B72"/>
                </a:solidFill>
                <a:latin typeface="Cambria"/>
              </a:rPr>
              <a:t>55,9%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crianças alfabetizadas em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64653"/>
                </a:solidFill>
                <a:latin typeface="Cambria"/>
              </a:rPr>
              <a:t>59,2%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4164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em 2024, abaixo da meta do ano (59,9%)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66%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0468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em 2025, acima da meta do ano (63,8%)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783080"/>
            <a:ext cx="6766560" cy="448056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0116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64653"/>
                </a:solidFill>
                <a:latin typeface="Calibri"/>
              </a:rPr>
              <a:t>As cinco perguntas de negócio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260604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6060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fatores mais impactam a alfabetização?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331927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31927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variáveis possuem maior influência nos modelos?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4032504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403250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regiões possuem padrões semelhantes?</a:t>
            </a:r>
          </a:p>
        </p:txBody>
      </p:sp>
      <p:sp>
        <p:nvSpPr>
          <p:cNvPr id="19" name="Oval 18"/>
          <p:cNvSpPr/>
          <p:nvPr/>
        </p:nvSpPr>
        <p:spPr>
          <a:xfrm>
            <a:off x="5212080" y="4745736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74573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municípios apresentam maior risco educacional?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0" y="5458968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45896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Como prever municípios que podem não atingir metas futuras?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A média esconde quase 50 pontos de diferença entre estados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8308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6" name="Picture 5" descr="Barras com o percentual de crianças alfabetizadas por estado em 2024, de 36% na Bahia a 85% no Ceará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537" y="1691640"/>
            <a:ext cx="475892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COMO CHEGAMOS ÀS RESPOSTAS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Dados públicos, dois modelos e validação contra a realidade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3,35 milhões de crianças avaliadas em 2023 e 2024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Censo Escolar, fluxo escolar, nível socioeconômico (INSE), PIB e IDHM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Contexto de 5,5 mil municípios e suas redes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5 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públicas integradas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90872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672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Modelos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Risco de cada criança não se alfabetizar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Chance de cada rede municipal bater a meta do ano seguinte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Grupos de municípios com contexto parecido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66%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do sinal possível capturado pelo modelo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13064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Treino com 2023, teste com 2024: dados que o modelo nunca viu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Probabilidades calibradas: 70% previsto ≈ 70% real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Previsões comparadas com os resultados estaduais de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2 testes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contra dados reais: 2024 e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1 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fatores mais impactam a alfabetização?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trajetória escolar e política estadual pesam mais que a renda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2194560"/>
          <a:ext cx="65836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2560320"/>
            <a:ext cx="4114800" cy="3154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880360"/>
            <a:ext cx="3520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Trajetória escolar (31%):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redes com atraso e abandono nos anos iniciais alfabetizam menos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Política estadual (30%):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o estado pesa tanto quanto o contexto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Nível socioeconômico (19%):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importa, mas vem só em 3º lugar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Infraestrutura e formação docente pesam menos depois desses fatores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1 ·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Contexto não é destino: um município cearense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5B6B72"/>
                </a:solidFill>
                <a:latin typeface="Cambria"/>
              </a:rPr>
              <a:t>76%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7860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das crianças do município em situação de pobreza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2880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2A9D8F"/>
                </a:solidFill>
                <a:latin typeface="Cambria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57860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de chance prevista de alfabetização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4937760" cy="2011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O que a rede faz diferente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Abandono zero e 100% de aprovação no 2º ano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Distorção idade-série de apenas 1,9%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78% das matrículas em tempo integral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760720" y="1783080"/>
          <a:ext cx="58521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760720" y="589788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B6B72"/>
                </a:solidFill>
                <a:latin typeface="Calibri"/>
              </a:rPr>
              <a:t>É a rede de menor risco previsto entre 20 mil alunos analisados: o caso extremo, usado como ilustração.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2 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variáveis possuem maior influência nos modelos?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estado, distorção idade-série, abandono e nível socioeconômico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2194560"/>
          <a:ext cx="67665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2560320"/>
            <a:ext cx="3931920" cy="3154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28346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Dois testes, o mesmo ranking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337560"/>
            <a:ext cx="3337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400" b="1" i="0">
                <a:solidFill>
                  <a:srgbClr val="1F2D33"/>
                </a:solidFill>
                <a:latin typeface="Calibri"/>
              </a:rPr>
              <a:t>Leitura da previsão: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quanto cada variável empurra a chance de cada criança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1" i="0">
                <a:solidFill>
                  <a:srgbClr val="1F2D33"/>
                </a:solidFill>
                <a:latin typeface="Calibri"/>
              </a:rPr>
              <a:t>Teste de retirada: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sem o estado, o modelo perde mais acerto do que sem qualquer outra variável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Variáveis parecidas (IDHM, renda, pobreza) dividem a influência; por isso a leitura por tema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2 ·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O efeito do estado e os limiares que mudam a chance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783080"/>
          <a:ext cx="5120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Descontado o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228600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O Ceará alfabetiza muito acima do que sua renda prevê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GO, ES, PR e PE também entregam mais que o esperado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SE, RN, TO e BA entregam menos do que poderiam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3794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Os efeitos funcionam por limiares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&gt;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distorção idade-série derruba a chance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&gt; 0,5%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abandono já muda o sinal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29798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78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&lt; 4,8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78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INSE: degrau socioeconômico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3 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regiões possuem padrões semelhantes?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cinco perfis; com a mesma pobreza, 21 pontos de diferença</a:t>
            </a:r>
          </a:p>
        </p:txBody>
      </p:sp>
      <p:pic>
        <p:nvPicPr>
          <p:cNvPr id="7" name="Picture 6" descr="Mapa do Brasil com cada município colorido pelo seu grupo de contex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3786"/>
            <a:ext cx="4480560" cy="4144908"/>
          </a:xfrm>
          <a:prstGeom prst="rect">
            <a:avLst/>
          </a:prstGeom>
        </p:spPr>
      </p:pic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394960" y="2194560"/>
          <a:ext cx="621792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94960" y="4983480"/>
            <a:ext cx="6217920" cy="11430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2D33"/>
                </a:solidFill>
                <a:latin typeface="Calibri"/>
              </a:rPr>
              <a:t>Mesma pobreza infantil (~56%) e mesmo INSE: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o grupo com fluxo regular alfabetiza 63%; o com fluxo crítico, 42%. A diferença está na distorção idade-série: 6% contra 16%.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3 ·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Em todo perfil há municípios que superam o esperado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589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691640"/>
                <a:gridCol w="548640"/>
                <a:gridCol w="82296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Grupo de contexto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Município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Esperado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Acima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Fluxo escolar crítico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Tartarugalzinho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+50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Fluxo escolar crítico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Itaueira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PI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+42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Vulnerável com fluxo regular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Jequiá da Praia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+44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Vulnerável com fluxo regular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Taperoá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+43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Áreas diferenciadas e rurais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Barreirinhas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+32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Áreas diferenciadas e rurais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Atalaia do Norte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+35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Urbano de maior porte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Corinto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+32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Pequenos desenvolvidos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Carlinda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+38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828800"/>
            <a:ext cx="3108960" cy="2926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2057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76F51"/>
                </a:solidFill>
                <a:latin typeface="Calibri"/>
              </a:rPr>
              <a:t>Como usar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560320"/>
            <a:ext cx="2606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Comparar cada rede com seus pares de contexto, não com a média do país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Estudar e visitar as referências do mesmo grupo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Validar com as secretarias antes de difundir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B6B72"/>
                </a:solidFill>
                <a:latin typeface="Calibri"/>
              </a:rPr>
              <a:t>Esperado = taxa prevista pelo modelo para o contexto da rede. Redes com 50+ alunos avaliados e participação de 80%+ na prova.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4 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municípios apresentam maior risco educacional?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gravidade concentrada na Bahia; volume nas grandes capitais</a:t>
            </a:r>
          </a:p>
        </p:txBody>
      </p:sp>
      <p:pic>
        <p:nvPicPr>
          <p:cNvPr id="7" name="Picture 6" descr="Mapa do Brasil com o índice de risco de cada rede municipal; o risco alto se concentra na Bahia e no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55" y="2103120"/>
            <a:ext cx="4026170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40680" y="2194560"/>
            <a:ext cx="2971800" cy="4069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2377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</a:rPr>
              <a:t>Por gravidade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276148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2"/>
                </a:solidFill>
                <a:latin typeface="Calibri"/>
              </a:rPr>
              <a:t>% das redes no decil de maior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246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Bahia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2461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84%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794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Sergipe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794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4343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Amazonas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3434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31%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4892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Rio Grande do Norte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8920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5440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Pará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440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29%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2194560"/>
            <a:ext cx="2971800" cy="4069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2377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</a:rPr>
              <a:t>Por 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76148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2"/>
                </a:solidFill>
                <a:latin typeface="Calibri"/>
              </a:rPr>
              <a:t>crianças não alfabetizadas (rede municipal)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246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São Paulo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32461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21,6 mil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3794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Rio de Janeiro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3794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15,7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4343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Manaus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43434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9,3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892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Salvador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8920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7,7 mil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553212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1F2D33"/>
                </a:solidFill>
                <a:latin typeface="Calibri"/>
              </a:rPr>
              <a:t>São Paulo alfabetiza 48%; o contexto previa 56%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4 ·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Gravidade e volume juntos: 37 redes, 58 mil crianças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589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48640"/>
                <a:gridCol w="960120"/>
                <a:gridCol w="96012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Rede municipal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Taxa 2024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Esperado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Risco de não bater a meta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Não alfabetizadas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Salvador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7,7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Nova Iguaçu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4,2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Duque de Caxias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3,6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Maceió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3,1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São Gonçalo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2,5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Campos dos Goytacazes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2,4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Feira de Santana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2,4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Macapá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2,2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03920" y="18288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76F51"/>
                </a:solidFill>
                <a:latin typeface="Cambria"/>
              </a:rPr>
              <a:t>37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5786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com índice de risco alto (≥ 0,85) e 1.000+ alunos avaliados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429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64653"/>
                </a:solidFill>
                <a:latin typeface="Cambria"/>
              </a:rPr>
              <a:t>58 mil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78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crianças não alfabetizadas nessas redes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4892040"/>
            <a:ext cx="3108960" cy="105156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502920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Destaque: a Baixada Fluminense (Nova Iguaçu, Duque de Caxias, São Gonçalo, Belford Roxo)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5 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Como prever municípios que podem não atingir metas futuras?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um modelo de transição que vira alerta de prioridade, não sentença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Aprende: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como as redes de 2023 se saíram frente à meta de 2024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06324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1752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Projeta: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a chance de cada rede bater a meta de 2025, com os dados de 2024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8620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Protege: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estados com choque atípico, como o RS nas enchentes, não viram tendência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54%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418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das redes devem bater a meta de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8920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76F51"/>
                </a:solidFill>
                <a:latin typeface="Cambria"/>
              </a:rPr>
              <a:t>1.431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56418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redes com menos de 40% de chance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760720" y="2103120"/>
          <a:ext cx="58521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5 ·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Em 2025, o modelo acertou a direção e foi conservador no nível</a:t>
            </a:r>
          </a:p>
        </p:txBody>
      </p:sp>
      <p:pic>
        <p:nvPicPr>
          <p:cNvPr id="6" name="Picture 5" descr="Resultado de 2024 e de 2025 de cada estado comparado com a meta de 2025; 20 de 26 estados bateram a m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8" y="1691640"/>
            <a:ext cx="4758683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18288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0,43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57860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correlação entre a chance prevista e o estado ter batido a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828800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76F51"/>
                </a:solidFill>
                <a:latin typeface="Cambria"/>
              </a:rPr>
              <a:t>52% →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578608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chance média prevista x estados que bateram a meta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3520440"/>
            <a:ext cx="5760720" cy="22860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3749039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Direção certa: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CE, GO, ES e MG, apontados como seguros, bateram a meta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Nível conservador: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2025 teve um avanço amplo que nenhum dado anterior antecipava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Bahia: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menor chance prevista e maior salto do país, de 36% para 55%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B6B72"/>
                </a:solidFill>
                <a:latin typeface="Calibri"/>
              </a:rPr>
              <a:t>Fonte: Inep (Avaliação de Alfabetização 2023-2024, metas e resultados 2025), via Base dos Dados; Censo Escolar, IBGE e Atlas do Desenvolvimento Humano. Elaboração própria.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VALOR ESTRATÉGICO PARA AS POLÍTICAS PÚBLICAS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Cinco recomendações para a gestão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920240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83080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Priorizar recursos com o ranking de risco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Gravidade para a Bahia e o Nordeste; volume para as grandes redes urbanas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79192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816352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79192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Atacar o fluxo escolar nos anos iniciais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79192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Busca ativa, frequência e recomposição: a alavanca mais forte e acionável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75304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712464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575304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Expandir o regime de colaboração Estado-municípios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575304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No modelo do Ceará, começando pelos estados abaixo do esperado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71416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4608576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71416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Conectar municípios parecidos às suas referências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471416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Intercâmbio com quem alfabetiza muito acima do esperado no mesmo grupo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67528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504688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367528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Usar o alerta de metas antes da prova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367528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Agir no mesmo ano e retreinar o modelo a cada novo resultado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4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MENSAGEM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Os modelos dizem onde olhar primeiro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Retreinar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 os resultados municipais de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19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Validar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19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as referências com as secretarias antes de difundi-las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8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8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Acompanhar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8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o efeito das ações nas redes priorizadas a cada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FE3E0"/>
                </a:solidFill>
                <a:latin typeface="Calibri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Alfabetização no Brasil: cinco perguntas para decidir onde agir</dc:title>
  <dc:subject/>
  <dc:creator>eliaslopesjr1-maker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